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last time your mom or grandmother told you a story. Maybe at the dinner table, or a quiet moment in the kitchen — the kind of story that felt like it was just for you in that moment.</a:t>
            </a:r>
            <a:endParaRPr lang="en-US" dirty="0"/>
          </a:p>
          <a:p>
            <a:r>
              <a:rPr lang="en-US" dirty="0"/>
              <a:t>Now ask yourself: could you tell that story back to your own children one day? Word for word. In her voice. With all the details that made it hers?</a:t>
            </a:r>
            <a:endParaRPr lang="en-US" dirty="0"/>
          </a:p>
          <a:p>
            <a:r>
              <a:rPr lang="en-US" dirty="0"/>
              <a:t>Most of us can’t. And when she’s gone, that story is gone with her.</a:t>
            </a:r>
            <a:endParaRPr lang="en-US" dirty="0"/>
          </a:p>
          <a:p>
            <a:r>
              <a:rPr lang="en-US" dirty="0"/>
              <a:t>That’s the fear that built Roeung.</a:t>
            </a:r>
            <a:endParaRPr lang="en-US" dirty="0"/>
          </a:p>
          <a:p>
            <a:r>
              <a:rPr lang="en-US" dirty="0"/>
              <a:t>Roeung — the Khmer word for “story” — started as a personal mission: to preserve my grandmother’s memories before they disappeared. She carries stories that exist nowhere else on earth — in her language, in her words, in her way of telling them. And she’s not alone.</a:t>
            </a:r>
            <a:endParaRPr lang="en-US" dirty="0"/>
          </a:p>
          <a:p>
            <a:r>
              <a:rPr lang="en-US" dirty="0"/>
              <a:t>Every family has an elder like her. And most families will lose those stories forever.</a:t>
            </a:r>
            <a:endParaRPr lang="en-US" dirty="0"/>
          </a:p>
          <a:p>
            <a:r>
              <a:rPr lang="en-US" dirty="0"/>
              <a:t>Roeung is where those stories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grandmother survived the Khmer Rouge. She walked out of it carrying memories that no book recorded, that no archive holds — only her. The camps. The losses. The way her village smelled before everything burned. Stories she’s told me in Khmer, half of which I only half understood.</a:t>
            </a:r>
            <a:endParaRPr lang="en-US" dirty="0"/>
          </a:p>
          <a:p>
            <a:r>
              <a:rPr lang="en-US" dirty="0"/>
              <a:t>And I’ve spent years knowing that when she goes, those stories go with her.</a:t>
            </a:r>
            <a:endParaRPr lang="en-US" dirty="0"/>
          </a:p>
          <a:p>
            <a:r>
              <a:rPr lang="en-US" dirty="0"/>
              <a:t>She’s not alone in this. 280 million people live outside their country of birth. Their elders are aging. Their stories are being told — right now — in Khmer, in Tagalog, in Amharic, in languages their grandchildren can no longer fully speak. Languages that don’t map cleanly onto English. Histories that existing tools weren’t built to hold.</a:t>
            </a:r>
            <a:endParaRPr lang="en-US" dirty="0"/>
          </a:p>
          <a:p>
            <a:r>
              <a:rPr lang="en-US" dirty="0"/>
              <a:t>StoryWorth is English-only. Ancestry audio has no translation layer. There is no tool built for this specific, urgent reality — the one where the clock is running out, and the gap between generations isn’t just distance. It’s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paying for Roeung is typically a second-gen adult -- 25 to 45, tech-comfortable, English-fluent. They're not buying memories out of nostalgia. They're buying peace of mind. They've already lost someone, or they know that loss is coming soon. That emotional urgency is what drives the purchase -- and it's why this product doesn't need to be pushed. It pulls.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works around the real barriers. The elder doesn't create an account. They just hit record. The Keeper -- a younger, tech-comfortable family member -- does the curation. The result is a private, bilingual, beautiful family book that belongs to the family permanently. No subscription. No lock-in. No third-party platform holding their memories hostage.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ElevenLabs for Khmer transcription -- there's basically no competition here for a low-resource language at this quality. GPT-4o-mini for translation and cultural review. The magic is Step 7 -- Keeper review. The AI never publishes autonomously. That's not a limitation, it's a feature. It's also our EU AI Act story: Limited Risk, fully transparent, fully human-supervised. Trust is at the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in idea stage. Phase 1 is complete. Six months of focused building. The Sea family has been using this -- recording real stories, running them through the real AI pipeline, approving them, reading them. The hard, expensive engineering work is done. What we need now is scale, not proof of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deliberately simple. One-time purchase -- no subscription anxiety, no fear of losing your family's memories because you missed a payment. Credits cover our AI processing costs: a 10-minute story costs us 30-50 cents. We charge $1.29-1.90 per story depending on pack size. Strong unit economics from day one. Think of it like buying a camera and then film rolls -- the book is yours permanently, credits are consumed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going broad -- we're going deep. We're starting with communities where oral history loss is acute, documented, and where communities are already rallying around preservation. These are tight-knit communities with strong word-of-mouth. One family sharing their Roeung book with another is our best sales channel. The referral flywheel is built into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months to build Phase 1. Three months for a structured pilot with real external families. Three months to launch publicly. By end of 2026 -- 100 paying families, $12K in revenue, a real product with real users. Phase 4 opens the institutional channel: refugee resettlement organizations, cultural centers, university oral history programs. That's where the mission and the money fully align.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here asking for permission to dream bigger. I'm asking for partners to build with. Whether that's introductions to diaspora community leaders, AI pipeline expertise from this team, or early investment -- all of it moves us forward. The engineering cost for Phase 2 is real but not enormous. The opportunity is significant. And the mission is urgent.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close with this. My grandmother's stories exist in her memory and nowhere else on earth. That's true for millions of families. Roeung is how we change that -- one voice recording at a time. I'm grateful for your time, your attention, and your expertise. I'd love to hear your questions, your ideas, and how we might build this together.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DCC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5693A"/>
          </a:solidFill>
          <a:ln w="12700">
            <a:solidFill>
              <a:srgbClr val="B5693A"/>
            </a:solidFill>
            <a:prstDash val="solid"/>
          </a:ln>
        </p:spPr>
      </p:sp>
      <p:sp>
        <p:nvSpPr>
          <p:cNvPr id="3" name="Shape 1"/>
          <p:cNvSpPr/>
          <p:nvPr/>
        </p:nvSpPr>
        <p:spPr>
          <a:xfrm>
            <a:off x="5303520" y="-2011680"/>
            <a:ext cx="6400800" cy="6400800"/>
          </a:xfrm>
          <a:prstGeom prst="ellipse">
            <a:avLst/>
          </a:prstGeom>
          <a:solidFill>
            <a:srgbClr val="1A1A2E"/>
          </a:solidFill>
          <a:ln w="12700">
            <a:solidFill>
              <a:srgbClr val="1A1A2E"/>
            </a:solidFill>
            <a:prstDash val="solid"/>
          </a:ln>
        </p:spPr>
      </p:sp>
      <p:sp>
        <p:nvSpPr>
          <p:cNvPr id="4" name="Shape 2"/>
          <p:cNvSpPr/>
          <p:nvPr/>
        </p:nvSpPr>
        <p:spPr>
          <a:xfrm>
            <a:off x="6217920" y="-1280160"/>
            <a:ext cx="4572000" cy="4572000"/>
          </a:xfrm>
          <a:prstGeom prst="ellipse">
            <a:avLst/>
          </a:prstGeom>
          <a:solidFill>
            <a:srgbClr val="1A1A2E"/>
          </a:solidFill>
          <a:ln w="12700">
            <a:solidFill>
              <a:srgbClr val="1A1A2E"/>
            </a:solidFill>
            <a:prstDash val="solid"/>
          </a:ln>
        </p:spPr>
      </p:sp>
      <p:sp>
        <p:nvSpPr>
          <p:cNvPr id="5" name="Text 3"/>
          <p:cNvSpPr/>
          <p:nvPr/>
        </p:nvSpPr>
        <p:spPr>
          <a:xfrm>
            <a:off x="594360" y="914400"/>
            <a:ext cx="7315200" cy="411480"/>
          </a:xfrm>
          <a:prstGeom prst="rect">
            <a:avLst/>
          </a:prstGeom>
          <a:noFill/>
          <a:ln/>
        </p:spPr>
        <p:txBody>
          <a:bodyPr wrap="square" lIns="0" tIns="0" rIns="0" bIns="0" rtlCol="0" anchor="ctr"/>
          <a:lstStyle/>
          <a:p>
            <a:pPr indent="0" marL="0">
              <a:buNone/>
            </a:pPr>
            <a:r>
              <a:rPr lang="en-US" sz="1300" i="1" dirty="0">
                <a:solidFill>
                  <a:srgbClr val="1A1A2E"/>
                </a:solidFill>
                <a:latin typeface="Calibri" pitchFamily="34" charset="0"/>
                <a:ea typeface="Calibri" pitchFamily="34" charset="-122"/>
                <a:cs typeface="Calibri" pitchFamily="34" charset="-120"/>
              </a:rPr>
              <a:t>Story  /  Oral History  /  Family Archive</a:t>
            </a:r>
            <a:endParaRPr lang="en-US" sz="1300" dirty="0"/>
          </a:p>
        </p:txBody>
      </p:sp>
      <p:sp>
        <p:nvSpPr>
          <p:cNvPr id="6" name="Text 4"/>
          <p:cNvSpPr/>
          <p:nvPr/>
        </p:nvSpPr>
        <p:spPr>
          <a:xfrm>
            <a:off x="594360" y="1325880"/>
            <a:ext cx="7772400" cy="1645920"/>
          </a:xfrm>
          <a:prstGeom prst="rect">
            <a:avLst/>
          </a:prstGeom>
          <a:noFill/>
          <a:ln/>
        </p:spPr>
        <p:txBody>
          <a:bodyPr wrap="square" lIns="0" tIns="0" rIns="0" bIns="0" rtlCol="0" anchor="ctr"/>
          <a:lstStyle/>
          <a:p>
            <a:pPr indent="0" marL="0">
              <a:buNone/>
            </a:pPr>
            <a:r>
              <a:rPr lang="en-US" sz="8000" b="1" dirty="0">
                <a:solidFill>
                  <a:srgbClr val="1A1A2E"/>
                </a:solidFill>
                <a:latin typeface="Georgia" pitchFamily="34" charset="0"/>
                <a:ea typeface="Georgia" pitchFamily="34" charset="-122"/>
                <a:cs typeface="Georgia" pitchFamily="34" charset="-120"/>
              </a:rPr>
              <a:t>Roeung</a:t>
            </a:r>
            <a:endParaRPr lang="en-US" sz="8000" dirty="0"/>
          </a:p>
        </p:txBody>
      </p:sp>
      <p:sp>
        <p:nvSpPr>
          <p:cNvPr id="7" name="Text 5"/>
          <p:cNvSpPr/>
          <p:nvPr/>
        </p:nvSpPr>
        <p:spPr>
          <a:xfrm>
            <a:off x="594360" y="2944368"/>
            <a:ext cx="6858000" cy="548640"/>
          </a:xfrm>
          <a:prstGeom prst="rect">
            <a:avLst/>
          </a:prstGeom>
          <a:noFill/>
          <a:ln/>
        </p:spPr>
        <p:txBody>
          <a:bodyPr wrap="square" lIns="0" tIns="0" rIns="0" bIns="0" rtlCol="0" anchor="ctr"/>
          <a:lstStyle/>
          <a:p>
            <a:pPr indent="0" marL="0">
              <a:buNone/>
            </a:pPr>
            <a:r>
              <a:rPr lang="en-US" sz="2000" i="1" dirty="0">
                <a:solidFill>
                  <a:srgbClr val="1A1A2E"/>
                </a:solidFill>
                <a:latin typeface="Calibri" pitchFamily="34" charset="0"/>
                <a:ea typeface="Calibri" pitchFamily="34" charset="-122"/>
                <a:cs typeface="Calibri" pitchFamily="34" charset="-120"/>
              </a:rPr>
              <a:t>Where Family Stories Live Forever</a:t>
            </a:r>
            <a:endParaRPr lang="en-US" sz="2000" dirty="0"/>
          </a:p>
        </p:txBody>
      </p:sp>
      <p:sp>
        <p:nvSpPr>
          <p:cNvPr id="8" name="Shape 6"/>
          <p:cNvSpPr/>
          <p:nvPr/>
        </p:nvSpPr>
        <p:spPr>
          <a:xfrm>
            <a:off x="594360" y="3639312"/>
            <a:ext cx="1828800" cy="45720"/>
          </a:xfrm>
          <a:prstGeom prst="rect">
            <a:avLst/>
          </a:prstGeom>
          <a:solidFill>
            <a:srgbClr val="B5693A"/>
          </a:solidFill>
          <a:ln w="12700">
            <a:solidFill>
              <a:srgbClr val="B5693A"/>
            </a:solidFill>
            <a:prstDash val="solid"/>
          </a:ln>
        </p:spPr>
      </p:sp>
      <p:sp>
        <p:nvSpPr>
          <p:cNvPr id="9" name="Text 7"/>
          <p:cNvSpPr/>
          <p:nvPr/>
        </p:nvSpPr>
        <p:spPr>
          <a:xfrm>
            <a:off x="594360" y="3822192"/>
            <a:ext cx="7772400" cy="365760"/>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Ellen Sea  |  June 2026  |  FemCare AI  --  Internal Presentation</a:t>
            </a:r>
            <a:endParaRPr lang="en-US" sz="1150" dirty="0"/>
          </a:p>
        </p:txBody>
      </p:sp>
      <p:sp>
        <p:nvSpPr>
          <p:cNvPr id="10" name="Shape 8"/>
          <p:cNvSpPr/>
          <p:nvPr/>
        </p:nvSpPr>
        <p:spPr>
          <a:xfrm>
            <a:off x="0" y="5047488"/>
            <a:ext cx="9144000" cy="82296"/>
          </a:xfrm>
          <a:prstGeom prst="rect">
            <a:avLst/>
          </a:prstGeom>
          <a:solidFill>
            <a:srgbClr val="1A1A2E"/>
          </a:solidFill>
          <a:ln w="12700">
            <a:solidFill>
              <a:srgbClr val="1A1A2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DCC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5693A"/>
          </a:solidFill>
          <a:ln w="12700">
            <a:solidFill>
              <a:srgbClr val="B5693A"/>
            </a:solidFill>
            <a:prstDash val="solid"/>
          </a:ln>
        </p:spPr>
      </p:sp>
      <p:sp>
        <p:nvSpPr>
          <p:cNvPr id="3" name="Shape 1"/>
          <p:cNvSpPr/>
          <p:nvPr/>
        </p:nvSpPr>
        <p:spPr>
          <a:xfrm>
            <a:off x="0" y="5047488"/>
            <a:ext cx="9144000" cy="82296"/>
          </a:xfrm>
          <a:prstGeom prst="rect">
            <a:avLst/>
          </a:prstGeom>
          <a:solidFill>
            <a:srgbClr val="1A1A2E"/>
          </a:solidFill>
          <a:ln w="12700">
            <a:solidFill>
              <a:srgbClr val="1A1A2E"/>
            </a:solidFill>
            <a:prstDash val="solid"/>
          </a:ln>
        </p:spPr>
      </p:sp>
      <p:sp>
        <p:nvSpPr>
          <p:cNvPr id="4" name="Text 2"/>
          <p:cNvSpPr/>
          <p:nvPr/>
        </p:nvSpPr>
        <p:spPr>
          <a:xfrm>
            <a:off x="594360" y="228600"/>
            <a:ext cx="7315200" cy="320040"/>
          </a:xfrm>
          <a:prstGeom prst="rect">
            <a:avLst/>
          </a:prstGeom>
          <a:noFill/>
          <a:ln/>
        </p:spPr>
        <p:txBody>
          <a:bodyPr wrap="square" lIns="0" tIns="0" rIns="0" bIns="0" rtlCol="0" anchor="ctr"/>
          <a:lstStyle/>
          <a:p>
            <a:pPr indent="0" marL="0">
              <a:buNone/>
            </a:pPr>
            <a:r>
              <a:rPr lang="en-US" sz="1100" b="1" spc="400" kern="0" dirty="0">
                <a:solidFill>
                  <a:srgbClr val="B5693A"/>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594360" y="621792"/>
            <a:ext cx="8046720" cy="914400"/>
          </a:xfrm>
          <a:prstGeom prst="rect">
            <a:avLst/>
          </a:prstGeom>
          <a:noFill/>
          <a:ln/>
        </p:spPr>
        <p:txBody>
          <a:bodyPr wrap="square" lIns="0" tIns="0" rIns="0" bIns="0" rtlCol="0" anchor="ctr"/>
          <a:lstStyle/>
          <a:p>
            <a:pPr indent="0" marL="0">
              <a:buNone/>
            </a:pPr>
            <a:r>
              <a:rPr lang="en-US" sz="4200" b="1" dirty="0">
                <a:solidFill>
                  <a:srgbClr val="1A1A2E"/>
                </a:solidFill>
                <a:latin typeface="Georgia" pitchFamily="34" charset="0"/>
                <a:ea typeface="Georgia" pitchFamily="34" charset="-122"/>
                <a:cs typeface="Georgia" pitchFamily="34" charset="-120"/>
              </a:rPr>
              <a:t>Stories are disappearing.</a:t>
            </a:r>
            <a:endParaRPr lang="en-US" sz="4200" dirty="0"/>
          </a:p>
        </p:txBody>
      </p:sp>
      <p:sp>
        <p:nvSpPr>
          <p:cNvPr id="6" name="Text 4"/>
          <p:cNvSpPr/>
          <p:nvPr/>
        </p:nvSpPr>
        <p:spPr>
          <a:xfrm>
            <a:off x="594360" y="1572768"/>
            <a:ext cx="7772400" cy="475488"/>
          </a:xfrm>
          <a:prstGeom prst="rect">
            <a:avLst/>
          </a:prstGeom>
          <a:noFill/>
          <a:ln/>
        </p:spPr>
        <p:txBody>
          <a:bodyPr wrap="square" lIns="0" tIns="0" rIns="0" bIns="0" rtlCol="0" anchor="ctr"/>
          <a:lstStyle/>
          <a:p>
            <a:pPr indent="0" marL="0">
              <a:buNone/>
            </a:pPr>
            <a:r>
              <a:rPr lang="en-US" sz="1700" i="1" dirty="0">
                <a:solidFill>
                  <a:srgbClr val="1A1A2E"/>
                </a:solidFill>
                <a:latin typeface="Calibri" pitchFamily="34" charset="0"/>
                <a:ea typeface="Calibri" pitchFamily="34" charset="-122"/>
                <a:cs typeface="Calibri" pitchFamily="34" charset="-120"/>
              </a:rPr>
              <a:t>Every day, an elder passes -- and takes their stories with them.</a:t>
            </a:r>
            <a:endParaRPr lang="en-US" sz="1700" dirty="0"/>
          </a:p>
        </p:txBody>
      </p:sp>
      <p:sp>
        <p:nvSpPr>
          <p:cNvPr id="7" name="Shape 5"/>
          <p:cNvSpPr/>
          <p:nvPr/>
        </p:nvSpPr>
        <p:spPr>
          <a:xfrm>
            <a:off x="457200" y="2286000"/>
            <a:ext cx="2651760" cy="2468880"/>
          </a:xfrm>
          <a:prstGeom prst="rect">
            <a:avLst/>
          </a:prstGeom>
          <a:solidFill>
            <a:srgbClr val="1A1A2E"/>
          </a:solidFill>
          <a:ln w="12700">
            <a:solidFill>
              <a:srgbClr val="1A1A2E"/>
            </a:solidFill>
            <a:prstDash val="solid"/>
          </a:ln>
        </p:spPr>
      </p:sp>
      <p:sp>
        <p:nvSpPr>
          <p:cNvPr id="8" name="Shape 6"/>
          <p:cNvSpPr/>
          <p:nvPr/>
        </p:nvSpPr>
        <p:spPr>
          <a:xfrm>
            <a:off x="457200" y="2286000"/>
            <a:ext cx="2651760" cy="64008"/>
          </a:xfrm>
          <a:prstGeom prst="rect">
            <a:avLst/>
          </a:prstGeom>
          <a:solidFill>
            <a:srgbClr val="1A1A2E"/>
          </a:solidFill>
          <a:ln w="12700">
            <a:solidFill>
              <a:srgbClr val="1A1A2E"/>
            </a:solidFill>
            <a:prstDash val="solid"/>
          </a:ln>
        </p:spPr>
      </p:sp>
      <p:sp>
        <p:nvSpPr>
          <p:cNvPr id="9" name="Text 7"/>
          <p:cNvSpPr/>
          <p:nvPr/>
        </p:nvSpPr>
        <p:spPr>
          <a:xfrm>
            <a:off x="594360" y="2395728"/>
            <a:ext cx="2377440" cy="960120"/>
          </a:xfrm>
          <a:prstGeom prst="rect">
            <a:avLst/>
          </a:prstGeom>
          <a:noFill/>
          <a:ln/>
        </p:spPr>
        <p:txBody>
          <a:bodyPr wrap="square" lIns="0" tIns="0" rIns="0" bIns="0" rtlCol="0" anchor="ctr"/>
          <a:lstStyle/>
          <a:p>
            <a:pPr indent="0" marL="0">
              <a:buNone/>
            </a:pPr>
            <a:r>
              <a:rPr lang="en-US" sz="4600" b="1" dirty="0">
                <a:solidFill>
                  <a:srgbClr val="B5693A"/>
                </a:solidFill>
                <a:latin typeface="Georgia" pitchFamily="34" charset="0"/>
                <a:ea typeface="Georgia" pitchFamily="34" charset="-122"/>
                <a:cs typeface="Georgia" pitchFamily="34" charset="-120"/>
              </a:rPr>
              <a:t>280M+</a:t>
            </a:r>
            <a:endParaRPr lang="en-US" sz="4600" dirty="0"/>
          </a:p>
        </p:txBody>
      </p:sp>
      <p:sp>
        <p:nvSpPr>
          <p:cNvPr id="10" name="Text 8"/>
          <p:cNvSpPr/>
          <p:nvPr/>
        </p:nvSpPr>
        <p:spPr>
          <a:xfrm>
            <a:off x="594360" y="3401568"/>
            <a:ext cx="2377440" cy="1188720"/>
          </a:xfrm>
          <a:prstGeom prst="rect">
            <a:avLst/>
          </a:prstGeom>
          <a:noFill/>
          <a:ln/>
        </p:spPr>
        <p:txBody>
          <a:bodyPr wrap="square" lIns="0" tIns="0" rIns="0" bIns="0" rtlCol="0" anchor="t"/>
          <a:lstStyle/>
          <a:p>
            <a:pPr indent="0" marL="0">
              <a:buNone/>
            </a:pPr>
            <a:r>
              <a:rPr lang="en-US" sz="1350" dirty="0">
                <a:solidFill>
                  <a:srgbClr val="F5F0E8"/>
                </a:solidFill>
                <a:latin typeface="Calibri" pitchFamily="34" charset="0"/>
                <a:ea typeface="Calibri" pitchFamily="34" charset="-122"/>
                <a:cs typeface="Calibri" pitchFamily="34" charset="-120"/>
              </a:rPr>
              <a:t>People living outside</a:t>
            </a:r>
            <a:endParaRPr lang="en-US" sz="1350" dirty="0"/>
          </a:p>
          <a:p>
            <a:pPr indent="0" marL="0">
              <a:buNone/>
            </a:pPr>
            <a:r>
              <a:rPr lang="en-US" sz="1350" dirty="0">
                <a:solidFill>
                  <a:srgbClr val="F5F0E8"/>
                </a:solidFill>
                <a:latin typeface="Calibri" pitchFamily="34" charset="0"/>
                <a:ea typeface="Calibri" pitchFamily="34" charset="-122"/>
                <a:cs typeface="Calibri" pitchFamily="34" charset="-120"/>
              </a:rPr>
              <a:t>their country of birth</a:t>
            </a:r>
            <a:endParaRPr lang="en-US" sz="1350" dirty="0"/>
          </a:p>
        </p:txBody>
      </p:sp>
      <p:sp>
        <p:nvSpPr>
          <p:cNvPr id="11" name="Shape 9"/>
          <p:cNvSpPr/>
          <p:nvPr/>
        </p:nvSpPr>
        <p:spPr>
          <a:xfrm>
            <a:off x="3337560" y="2286000"/>
            <a:ext cx="2651760" cy="2468880"/>
          </a:xfrm>
          <a:prstGeom prst="rect">
            <a:avLst/>
          </a:prstGeom>
          <a:solidFill>
            <a:srgbClr val="1A1A2E"/>
          </a:solidFill>
          <a:ln w="12700">
            <a:solidFill>
              <a:srgbClr val="1A1A2E"/>
            </a:solidFill>
            <a:prstDash val="solid"/>
          </a:ln>
        </p:spPr>
      </p:sp>
      <p:sp>
        <p:nvSpPr>
          <p:cNvPr id="12" name="Shape 10"/>
          <p:cNvSpPr/>
          <p:nvPr/>
        </p:nvSpPr>
        <p:spPr>
          <a:xfrm>
            <a:off x="3337560" y="2286000"/>
            <a:ext cx="2651760" cy="64008"/>
          </a:xfrm>
          <a:prstGeom prst="rect">
            <a:avLst/>
          </a:prstGeom>
          <a:solidFill>
            <a:srgbClr val="1A1A2E"/>
          </a:solidFill>
          <a:ln w="12700">
            <a:solidFill>
              <a:srgbClr val="1A1A2E"/>
            </a:solidFill>
            <a:prstDash val="solid"/>
          </a:ln>
        </p:spPr>
      </p:sp>
      <p:sp>
        <p:nvSpPr>
          <p:cNvPr id="13" name="Text 11"/>
          <p:cNvSpPr/>
          <p:nvPr/>
        </p:nvSpPr>
        <p:spPr>
          <a:xfrm>
            <a:off x="3474720" y="2395728"/>
            <a:ext cx="2377440" cy="960120"/>
          </a:xfrm>
          <a:prstGeom prst="rect">
            <a:avLst/>
          </a:prstGeom>
          <a:noFill/>
          <a:ln/>
        </p:spPr>
        <p:txBody>
          <a:bodyPr wrap="square" lIns="0" tIns="0" rIns="0" bIns="0" rtlCol="0" anchor="ctr"/>
          <a:lstStyle/>
          <a:p>
            <a:pPr indent="0" marL="0">
              <a:buNone/>
            </a:pPr>
            <a:r>
              <a:rPr lang="en-US" sz="4600" b="1" dirty="0">
                <a:solidFill>
                  <a:srgbClr val="B5693A"/>
                </a:solidFill>
                <a:latin typeface="Georgia" pitchFamily="34" charset="0"/>
                <a:ea typeface="Georgia" pitchFamily="34" charset="-122"/>
                <a:cs typeface="Georgia" pitchFamily="34" charset="-120"/>
              </a:rPr>
              <a:t>1 in 3</a:t>
            </a:r>
            <a:endParaRPr lang="en-US" sz="4600" dirty="0"/>
          </a:p>
        </p:txBody>
      </p:sp>
      <p:sp>
        <p:nvSpPr>
          <p:cNvPr id="14" name="Text 12"/>
          <p:cNvSpPr/>
          <p:nvPr/>
        </p:nvSpPr>
        <p:spPr>
          <a:xfrm>
            <a:off x="3474720" y="3401568"/>
            <a:ext cx="2377440" cy="1188720"/>
          </a:xfrm>
          <a:prstGeom prst="rect">
            <a:avLst/>
          </a:prstGeom>
          <a:noFill/>
          <a:ln/>
        </p:spPr>
        <p:txBody>
          <a:bodyPr wrap="square" lIns="0" tIns="0" rIns="0" bIns="0" rtlCol="0" anchor="t"/>
          <a:lstStyle/>
          <a:p>
            <a:pPr indent="0" marL="0">
              <a:buNone/>
            </a:pPr>
            <a:r>
              <a:rPr lang="en-US" sz="1350" dirty="0">
                <a:solidFill>
                  <a:srgbClr val="F5F0E8"/>
                </a:solidFill>
                <a:latin typeface="Calibri" pitchFamily="34" charset="0"/>
                <a:ea typeface="Calibri" pitchFamily="34" charset="-122"/>
                <a:cs typeface="Calibri" pitchFamily="34" charset="-120"/>
              </a:rPr>
              <a:t>Diaspora families say</a:t>
            </a:r>
            <a:endParaRPr lang="en-US" sz="1350" dirty="0"/>
          </a:p>
          <a:p>
            <a:pPr indent="0" marL="0">
              <a:buNone/>
            </a:pPr>
            <a:r>
              <a:rPr lang="en-US" sz="1350" dirty="0">
                <a:solidFill>
                  <a:srgbClr val="F5F0E8"/>
                </a:solidFill>
                <a:latin typeface="Calibri" pitchFamily="34" charset="0"/>
                <a:ea typeface="Calibri" pitchFamily="34" charset="-122"/>
                <a:cs typeface="Calibri" pitchFamily="34" charset="-120"/>
              </a:rPr>
              <a:t>key stories are already lost</a:t>
            </a:r>
            <a:endParaRPr lang="en-US" sz="1350" dirty="0"/>
          </a:p>
        </p:txBody>
      </p:sp>
      <p:sp>
        <p:nvSpPr>
          <p:cNvPr id="15" name="Shape 13"/>
          <p:cNvSpPr/>
          <p:nvPr/>
        </p:nvSpPr>
        <p:spPr>
          <a:xfrm>
            <a:off x="6217920" y="2286000"/>
            <a:ext cx="2651760" cy="2468880"/>
          </a:xfrm>
          <a:prstGeom prst="rect">
            <a:avLst/>
          </a:prstGeom>
          <a:solidFill>
            <a:srgbClr val="1A1A2E"/>
          </a:solidFill>
          <a:ln w="12700">
            <a:solidFill>
              <a:srgbClr val="1A1A2E"/>
            </a:solidFill>
            <a:prstDash val="solid"/>
          </a:ln>
        </p:spPr>
      </p:sp>
      <p:sp>
        <p:nvSpPr>
          <p:cNvPr id="16" name="Shape 14"/>
          <p:cNvSpPr/>
          <p:nvPr/>
        </p:nvSpPr>
        <p:spPr>
          <a:xfrm>
            <a:off x="6217920" y="2286000"/>
            <a:ext cx="2651760" cy="64008"/>
          </a:xfrm>
          <a:prstGeom prst="rect">
            <a:avLst/>
          </a:prstGeom>
          <a:solidFill>
            <a:srgbClr val="1A1A2E"/>
          </a:solidFill>
          <a:ln w="12700">
            <a:solidFill>
              <a:srgbClr val="1A1A2E"/>
            </a:solidFill>
            <a:prstDash val="solid"/>
          </a:ln>
        </p:spPr>
      </p:sp>
      <p:sp>
        <p:nvSpPr>
          <p:cNvPr id="17" name="Text 15"/>
          <p:cNvSpPr/>
          <p:nvPr/>
        </p:nvSpPr>
        <p:spPr>
          <a:xfrm>
            <a:off x="6355080" y="2395728"/>
            <a:ext cx="2377440" cy="960120"/>
          </a:xfrm>
          <a:prstGeom prst="rect">
            <a:avLst/>
          </a:prstGeom>
          <a:noFill/>
          <a:ln/>
        </p:spPr>
        <p:txBody>
          <a:bodyPr wrap="square" lIns="0" tIns="0" rIns="0" bIns="0" rtlCol="0" anchor="ctr"/>
          <a:lstStyle/>
          <a:p>
            <a:pPr indent="0" marL="0">
              <a:buNone/>
            </a:pPr>
            <a:r>
              <a:rPr lang="en-US" sz="4600" b="1" dirty="0">
                <a:solidFill>
                  <a:srgbClr val="B5693A"/>
                </a:solidFill>
                <a:latin typeface="Georgia" pitchFamily="34" charset="0"/>
                <a:ea typeface="Georgia" pitchFamily="34" charset="-122"/>
                <a:cs typeface="Georgia" pitchFamily="34" charset="-120"/>
              </a:rPr>
              <a:t>None.</a:t>
            </a:r>
            <a:endParaRPr lang="en-US" sz="4600" dirty="0"/>
          </a:p>
        </p:txBody>
      </p:sp>
      <p:sp>
        <p:nvSpPr>
          <p:cNvPr id="18" name="Text 16"/>
          <p:cNvSpPr/>
          <p:nvPr/>
        </p:nvSpPr>
        <p:spPr>
          <a:xfrm>
            <a:off x="6355080" y="3401568"/>
            <a:ext cx="2377440" cy="1188720"/>
          </a:xfrm>
          <a:prstGeom prst="rect">
            <a:avLst/>
          </a:prstGeom>
          <a:noFill/>
          <a:ln/>
        </p:spPr>
        <p:txBody>
          <a:bodyPr wrap="square" lIns="0" tIns="0" rIns="0" bIns="0" rtlCol="0" anchor="t"/>
          <a:lstStyle/>
          <a:p>
            <a:pPr indent="0" marL="0">
              <a:buNone/>
            </a:pPr>
            <a:r>
              <a:rPr lang="en-US" sz="1350" dirty="0">
                <a:solidFill>
                  <a:srgbClr val="F5F0E8"/>
                </a:solidFill>
                <a:latin typeface="Calibri" pitchFamily="34" charset="0"/>
                <a:ea typeface="Calibri" pitchFamily="34" charset="-122"/>
                <a:cs typeface="Calibri" pitchFamily="34" charset="-120"/>
              </a:rPr>
              <a:t>Existing tools built for</a:t>
            </a:r>
            <a:endParaRPr lang="en-US" sz="1350" dirty="0"/>
          </a:p>
          <a:p>
            <a:pPr indent="0" marL="0">
              <a:buNone/>
            </a:pPr>
            <a:r>
              <a:rPr lang="en-US" sz="1350" dirty="0">
                <a:solidFill>
                  <a:srgbClr val="F5F0E8"/>
                </a:solidFill>
                <a:latin typeface="Calibri" pitchFamily="34" charset="0"/>
                <a:ea typeface="Calibri" pitchFamily="34" charset="-122"/>
                <a:cs typeface="Calibri" pitchFamily="34" charset="-120"/>
              </a:rPr>
              <a:t>bilingual, diaspora</a:t>
            </a:r>
            <a:endParaRPr lang="en-US" sz="1350" dirty="0"/>
          </a:p>
          <a:p>
            <a:pPr indent="0" marL="0">
              <a:buNone/>
            </a:pPr>
            <a:r>
              <a:rPr lang="en-US" sz="1350" dirty="0">
                <a:solidFill>
                  <a:srgbClr val="F5F0E8"/>
                </a:solidFill>
                <a:latin typeface="Calibri" pitchFamily="34" charset="0"/>
                <a:ea typeface="Calibri" pitchFamily="34" charset="-122"/>
                <a:cs typeface="Calibri" pitchFamily="34" charset="-120"/>
              </a:rPr>
              <a:t>family storytelling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693A"/>
          </a:solidFill>
          <a:ln w="12700">
            <a:solidFill>
              <a:srgbClr val="B5693A"/>
            </a:solidFill>
            <a:prstDash val="solid"/>
          </a:ln>
        </p:spPr>
      </p:sp>
      <p:sp>
        <p:nvSpPr>
          <p:cNvPr id="3" name="Text 1"/>
          <p:cNvSpPr/>
          <p:nvPr/>
        </p:nvSpPr>
        <p:spPr>
          <a:xfrm>
            <a:off x="365760" y="256032"/>
            <a:ext cx="7315200" cy="320040"/>
          </a:xfrm>
          <a:prstGeom prst="rect">
            <a:avLst/>
          </a:prstGeom>
          <a:noFill/>
          <a:ln/>
        </p:spPr>
        <p:txBody>
          <a:bodyPr wrap="square" lIns="0" tIns="0" rIns="0" bIns="0" rtlCol="0" anchor="ctr"/>
          <a:lstStyle/>
          <a:p>
            <a:pPr indent="0" marL="0">
              <a:buNone/>
            </a:pPr>
            <a:r>
              <a:rPr lang="en-US" sz="1100" b="1" spc="400" kern="0" dirty="0">
                <a:solidFill>
                  <a:srgbClr val="1A1A2E"/>
                </a:solidFill>
                <a:latin typeface="Calibri" pitchFamily="34" charset="0"/>
                <a:ea typeface="Calibri" pitchFamily="34" charset="-122"/>
                <a:cs typeface="Calibri" pitchFamily="34" charset="-120"/>
              </a:rPr>
              <a:t>WHY IT'S URGENT</a:t>
            </a:r>
            <a:endParaRPr lang="en-US" sz="1100" dirty="0"/>
          </a:p>
        </p:txBody>
      </p:sp>
      <p:sp>
        <p:nvSpPr>
          <p:cNvPr id="4" name="Text 2"/>
          <p:cNvSpPr/>
          <p:nvPr/>
        </p:nvSpPr>
        <p:spPr>
          <a:xfrm>
            <a:off x="365760" y="640080"/>
            <a:ext cx="4937760" cy="1417320"/>
          </a:xfrm>
          <a:prstGeom prst="rect">
            <a:avLst/>
          </a:prstGeom>
          <a:noFill/>
          <a:ln/>
        </p:spPr>
        <p:txBody>
          <a:bodyPr wrap="square" lIns="0" tIns="0" rIns="0" bIns="0" rtlCol="0" anchor="ctr"/>
          <a:lstStyle/>
          <a:p>
            <a:pPr indent="0" marL="0">
              <a:buNone/>
            </a:pPr>
            <a:r>
              <a:rPr lang="en-US" sz="3600" b="1" dirty="0">
                <a:solidFill>
                  <a:srgbClr val="1A1A2E"/>
                </a:solidFill>
                <a:latin typeface="Georgia" pitchFamily="34" charset="0"/>
                <a:ea typeface="Georgia" pitchFamily="34" charset="-122"/>
                <a:cs typeface="Georgia" pitchFamily="34" charset="-120"/>
              </a:rPr>
              <a:t>It's not nostalgia.</a:t>
            </a:r>
            <a:endParaRPr lang="en-US" sz="3600" dirty="0"/>
          </a:p>
          <a:p>
            <a:pPr indent="0" marL="0">
              <a:buNone/>
            </a:pPr>
            <a:r>
              <a:rPr lang="en-US" sz="3600" b="1" dirty="0">
                <a:solidFill>
                  <a:srgbClr val="1A1A2E"/>
                </a:solidFill>
                <a:latin typeface="Georgia" pitchFamily="34" charset="0"/>
                <a:ea typeface="Georgia" pitchFamily="34" charset="-122"/>
                <a:cs typeface="Georgia" pitchFamily="34" charset="-120"/>
              </a:rPr>
              <a:t>It's grief prevention.</a:t>
            </a:r>
            <a:endParaRPr lang="en-US" sz="3600" dirty="0"/>
          </a:p>
        </p:txBody>
      </p:sp>
      <p:sp>
        <p:nvSpPr>
          <p:cNvPr id="5" name="Text 3"/>
          <p:cNvSpPr/>
          <p:nvPr/>
        </p:nvSpPr>
        <p:spPr>
          <a:xfrm>
            <a:off x="365760" y="2103120"/>
            <a:ext cx="4663440" cy="822960"/>
          </a:xfrm>
          <a:prstGeom prst="rect">
            <a:avLst/>
          </a:prstGeom>
          <a:noFill/>
          <a:ln/>
        </p:spPr>
        <p:txBody>
          <a:bodyPr wrap="square" lIns="0" tIns="0" rIns="0" bIns="0" rtlCol="0" anchor="ctr"/>
          <a:lstStyle/>
          <a:p>
            <a:pPr indent="0" marL="0">
              <a:buNone/>
            </a:pPr>
            <a:r>
              <a:rPr lang="en-US" sz="1350" i="1" dirty="0">
                <a:solidFill>
                  <a:srgbClr val="1A1A2E"/>
                </a:solidFill>
                <a:latin typeface="Calibri" pitchFamily="34" charset="0"/>
                <a:ea typeface="Calibri" pitchFamily="34" charset="-122"/>
                <a:cs typeface="Calibri" pitchFamily="34" charset="-120"/>
              </a:rPr>
              <a:t>The buyer isn't sentimental -- they're afraid of losing someone</a:t>
            </a:r>
            <a:endParaRPr lang="en-US" sz="1350" dirty="0"/>
          </a:p>
          <a:p>
            <a:pPr indent="0" marL="0">
              <a:buNone/>
            </a:pPr>
            <a:r>
              <a:rPr lang="en-US" sz="1350" i="1" dirty="0">
                <a:solidFill>
                  <a:srgbClr val="1A1A2E"/>
                </a:solidFill>
                <a:latin typeface="Calibri" pitchFamily="34" charset="0"/>
                <a:ea typeface="Calibri" pitchFamily="34" charset="-122"/>
                <a:cs typeface="Calibri" pitchFamily="34" charset="-120"/>
              </a:rPr>
              <a:t>before they've captured what makes that person irreplaceable.</a:t>
            </a:r>
            <a:endParaRPr lang="en-US" sz="1350" dirty="0"/>
          </a:p>
        </p:txBody>
      </p:sp>
      <p:sp>
        <p:nvSpPr>
          <p:cNvPr id="6" name="Shape 4"/>
          <p:cNvSpPr/>
          <p:nvPr/>
        </p:nvSpPr>
        <p:spPr>
          <a:xfrm>
            <a:off x="365760" y="3108960"/>
            <a:ext cx="4480560" cy="1645920"/>
          </a:xfrm>
          <a:prstGeom prst="rect">
            <a:avLst/>
          </a:prstGeom>
          <a:solidFill>
            <a:srgbClr val="F5F0E8"/>
          </a:solidFill>
          <a:ln w="12700">
            <a:solidFill>
              <a:srgbClr val="F5F0E8"/>
            </a:solidFill>
            <a:prstDash val="solid"/>
          </a:ln>
        </p:spPr>
      </p:sp>
      <p:sp>
        <p:nvSpPr>
          <p:cNvPr id="7" name="Shape 5"/>
          <p:cNvSpPr/>
          <p:nvPr/>
        </p:nvSpPr>
        <p:spPr>
          <a:xfrm>
            <a:off x="365760" y="3108960"/>
            <a:ext cx="82296" cy="1645920"/>
          </a:xfrm>
          <a:prstGeom prst="rect">
            <a:avLst/>
          </a:prstGeom>
          <a:solidFill>
            <a:srgbClr val="B5693A"/>
          </a:solidFill>
          <a:ln w="12700">
            <a:solidFill>
              <a:srgbClr val="B5693A"/>
            </a:solidFill>
            <a:prstDash val="solid"/>
          </a:ln>
        </p:spPr>
      </p:sp>
      <p:sp>
        <p:nvSpPr>
          <p:cNvPr id="8" name="Text 6"/>
          <p:cNvSpPr/>
          <p:nvPr/>
        </p:nvSpPr>
        <p:spPr>
          <a:xfrm>
            <a:off x="548640" y="3218688"/>
            <a:ext cx="4206240" cy="137160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The primary buyer is a second-generation adult, 25-45, who speaks English fluently and feels an urgent responsibility to capture their family's memory before it's too late.</a:t>
            </a:r>
            <a:endParaRPr lang="en-US" sz="1300" dirty="0"/>
          </a:p>
        </p:txBody>
      </p:sp>
      <p:sp>
        <p:nvSpPr>
          <p:cNvPr id="9" name="Shape 7"/>
          <p:cNvSpPr/>
          <p:nvPr/>
        </p:nvSpPr>
        <p:spPr>
          <a:xfrm>
            <a:off x="5257800" y="256032"/>
            <a:ext cx="36576" cy="4663440"/>
          </a:xfrm>
          <a:prstGeom prst="rect">
            <a:avLst/>
          </a:prstGeom>
          <a:solidFill>
            <a:srgbClr val="E8DCC8"/>
          </a:solidFill>
          <a:ln w="12700">
            <a:solidFill>
              <a:srgbClr val="E8DCC8"/>
            </a:solidFill>
            <a:prstDash val="solid"/>
          </a:ln>
        </p:spPr>
      </p:sp>
      <p:sp>
        <p:nvSpPr>
          <p:cNvPr id="10" name="Shape 8"/>
          <p:cNvSpPr/>
          <p:nvPr/>
        </p:nvSpPr>
        <p:spPr>
          <a:xfrm>
            <a:off x="5532120" y="420624"/>
            <a:ext cx="219456" cy="219456"/>
          </a:xfrm>
          <a:prstGeom prst="ellipse">
            <a:avLst/>
          </a:prstGeom>
          <a:solidFill>
            <a:srgbClr val="B5693A"/>
          </a:solidFill>
          <a:ln w="12700">
            <a:solidFill>
              <a:srgbClr val="B5693A"/>
            </a:solidFill>
            <a:prstDash val="solid"/>
          </a:ln>
        </p:spPr>
      </p:sp>
      <p:sp>
        <p:nvSpPr>
          <p:cNvPr id="11" name="Text 9"/>
          <p:cNvSpPr/>
          <p:nvPr/>
        </p:nvSpPr>
        <p:spPr>
          <a:xfrm>
            <a:off x="5870448" y="347472"/>
            <a:ext cx="3063240" cy="320040"/>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Language barrier</a:t>
            </a:r>
            <a:endParaRPr lang="en-US" sz="1450" dirty="0"/>
          </a:p>
        </p:txBody>
      </p:sp>
      <p:sp>
        <p:nvSpPr>
          <p:cNvPr id="12" name="Text 10"/>
          <p:cNvSpPr/>
          <p:nvPr/>
        </p:nvSpPr>
        <p:spPr>
          <a:xfrm>
            <a:off x="5870448" y="694944"/>
            <a:ext cx="306324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Khmer-speaking elders. English-dominant grandchildren. Stories don't cross.</a:t>
            </a:r>
            <a:endParaRPr lang="en-US" sz="1200" dirty="0"/>
          </a:p>
        </p:txBody>
      </p:sp>
      <p:sp>
        <p:nvSpPr>
          <p:cNvPr id="13" name="Shape 11"/>
          <p:cNvSpPr/>
          <p:nvPr/>
        </p:nvSpPr>
        <p:spPr>
          <a:xfrm>
            <a:off x="5532120" y="1536192"/>
            <a:ext cx="219456" cy="219456"/>
          </a:xfrm>
          <a:prstGeom prst="ellipse">
            <a:avLst/>
          </a:prstGeom>
          <a:solidFill>
            <a:srgbClr val="B5693A"/>
          </a:solidFill>
          <a:ln w="12700">
            <a:solidFill>
              <a:srgbClr val="B5693A"/>
            </a:solidFill>
            <a:prstDash val="solid"/>
          </a:ln>
        </p:spPr>
      </p:sp>
      <p:sp>
        <p:nvSpPr>
          <p:cNvPr id="14" name="Text 12"/>
          <p:cNvSpPr/>
          <p:nvPr/>
        </p:nvSpPr>
        <p:spPr>
          <a:xfrm>
            <a:off x="5870448" y="1463040"/>
            <a:ext cx="3063240" cy="320040"/>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Geography</a:t>
            </a:r>
            <a:endParaRPr lang="en-US" sz="1450" dirty="0"/>
          </a:p>
        </p:txBody>
      </p:sp>
      <p:sp>
        <p:nvSpPr>
          <p:cNvPr id="15" name="Text 13"/>
          <p:cNvSpPr/>
          <p:nvPr/>
        </p:nvSpPr>
        <p:spPr>
          <a:xfrm>
            <a:off x="5870448" y="1810512"/>
            <a:ext cx="306324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Family spans the US, Germany, Cambodia -- too dispersed for manual coordination.</a:t>
            </a:r>
            <a:endParaRPr lang="en-US" sz="1200" dirty="0"/>
          </a:p>
        </p:txBody>
      </p:sp>
      <p:sp>
        <p:nvSpPr>
          <p:cNvPr id="16" name="Shape 14"/>
          <p:cNvSpPr/>
          <p:nvPr/>
        </p:nvSpPr>
        <p:spPr>
          <a:xfrm>
            <a:off x="5532120" y="2651760"/>
            <a:ext cx="219456" cy="219456"/>
          </a:xfrm>
          <a:prstGeom prst="ellipse">
            <a:avLst/>
          </a:prstGeom>
          <a:solidFill>
            <a:srgbClr val="B5693A"/>
          </a:solidFill>
          <a:ln w="12700">
            <a:solidFill>
              <a:srgbClr val="B5693A"/>
            </a:solidFill>
            <a:prstDash val="solid"/>
          </a:ln>
        </p:spPr>
      </p:sp>
      <p:sp>
        <p:nvSpPr>
          <p:cNvPr id="17" name="Text 15"/>
          <p:cNvSpPr/>
          <p:nvPr/>
        </p:nvSpPr>
        <p:spPr>
          <a:xfrm>
            <a:off x="5870448" y="2578608"/>
            <a:ext cx="3063240" cy="320040"/>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No record</a:t>
            </a:r>
            <a:endParaRPr lang="en-US" sz="1450" dirty="0"/>
          </a:p>
        </p:txBody>
      </p:sp>
      <p:sp>
        <p:nvSpPr>
          <p:cNvPr id="18" name="Text 16"/>
          <p:cNvSpPr/>
          <p:nvPr/>
        </p:nvSpPr>
        <p:spPr>
          <a:xfrm>
            <a:off x="5870448" y="2926080"/>
            <a:ext cx="306324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Stories told once, in conversation. Never written. Never recorded.</a:t>
            </a:r>
            <a:endParaRPr lang="en-US" sz="1200" dirty="0"/>
          </a:p>
        </p:txBody>
      </p:sp>
      <p:sp>
        <p:nvSpPr>
          <p:cNvPr id="19" name="Shape 17"/>
          <p:cNvSpPr/>
          <p:nvPr/>
        </p:nvSpPr>
        <p:spPr>
          <a:xfrm>
            <a:off x="5532120" y="3767328"/>
            <a:ext cx="219456" cy="219456"/>
          </a:xfrm>
          <a:prstGeom prst="ellipse">
            <a:avLst/>
          </a:prstGeom>
          <a:solidFill>
            <a:srgbClr val="B5693A"/>
          </a:solidFill>
          <a:ln w="12700">
            <a:solidFill>
              <a:srgbClr val="B5693A"/>
            </a:solidFill>
            <a:prstDash val="solid"/>
          </a:ln>
        </p:spPr>
      </p:sp>
      <p:sp>
        <p:nvSpPr>
          <p:cNvPr id="20" name="Text 18"/>
          <p:cNvSpPr/>
          <p:nvPr/>
        </p:nvSpPr>
        <p:spPr>
          <a:xfrm>
            <a:off x="5870448" y="3694176"/>
            <a:ext cx="3063240" cy="320040"/>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Existing tools miss</a:t>
            </a:r>
            <a:endParaRPr lang="en-US" sz="1450" dirty="0"/>
          </a:p>
        </p:txBody>
      </p:sp>
      <p:sp>
        <p:nvSpPr>
          <p:cNvPr id="21" name="Text 19"/>
          <p:cNvSpPr/>
          <p:nvPr/>
        </p:nvSpPr>
        <p:spPr>
          <a:xfrm>
            <a:off x="5870448" y="4041648"/>
            <a:ext cx="3063240" cy="658368"/>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StoryWorth, Ancestry audio -- English-only, no cultural nuance, no Keeper layer.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DCC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5693A"/>
          </a:solidFill>
          <a:ln w="12700">
            <a:solidFill>
              <a:srgbClr val="B5693A"/>
            </a:solidFill>
            <a:prstDash val="solid"/>
          </a:ln>
        </p:spPr>
      </p:sp>
      <p:sp>
        <p:nvSpPr>
          <p:cNvPr id="3" name="Shape 1"/>
          <p:cNvSpPr/>
          <p:nvPr/>
        </p:nvSpPr>
        <p:spPr>
          <a:xfrm>
            <a:off x="0" y="5047488"/>
            <a:ext cx="9144000" cy="82296"/>
          </a:xfrm>
          <a:prstGeom prst="rect">
            <a:avLst/>
          </a:prstGeom>
          <a:solidFill>
            <a:srgbClr val="1A1A2E"/>
          </a:solidFill>
          <a:ln w="12700">
            <a:solidFill>
              <a:srgbClr val="1A1A2E"/>
            </a:solidFill>
            <a:prstDash val="solid"/>
          </a:ln>
        </p:spPr>
      </p:sp>
      <p:sp>
        <p:nvSpPr>
          <p:cNvPr id="4" name="Text 2"/>
          <p:cNvSpPr/>
          <p:nvPr/>
        </p:nvSpPr>
        <p:spPr>
          <a:xfrm>
            <a:off x="594360" y="228600"/>
            <a:ext cx="7315200" cy="320040"/>
          </a:xfrm>
          <a:prstGeom prst="rect">
            <a:avLst/>
          </a:prstGeom>
          <a:noFill/>
          <a:ln/>
        </p:spPr>
        <p:txBody>
          <a:bodyPr wrap="square" lIns="0" tIns="0" rIns="0" bIns="0" rtlCol="0" anchor="ctr"/>
          <a:lstStyle/>
          <a:p>
            <a:pPr indent="0" marL="0">
              <a:buNone/>
            </a:pPr>
            <a:r>
              <a:rPr lang="en-US" sz="1100" b="1" spc="400" kern="0" dirty="0">
                <a:solidFill>
                  <a:srgbClr val="B5693A"/>
                </a:solidFill>
                <a:latin typeface="Calibri" pitchFamily="34" charset="0"/>
                <a:ea typeface="Calibri" pitchFamily="34" charset="-122"/>
                <a:cs typeface="Calibri" pitchFamily="34" charset="-120"/>
              </a:rPr>
              <a:t>THE SOLUTION</a:t>
            </a:r>
            <a:endParaRPr lang="en-US" sz="1100" dirty="0"/>
          </a:p>
        </p:txBody>
      </p:sp>
      <p:sp>
        <p:nvSpPr>
          <p:cNvPr id="5" name="Text 3"/>
          <p:cNvSpPr/>
          <p:nvPr/>
        </p:nvSpPr>
        <p:spPr>
          <a:xfrm>
            <a:off x="594360" y="621792"/>
            <a:ext cx="8046720" cy="1417320"/>
          </a:xfrm>
          <a:prstGeom prst="rect">
            <a:avLst/>
          </a:prstGeom>
          <a:noFill/>
          <a:ln/>
        </p:spPr>
        <p:txBody>
          <a:bodyPr wrap="square" lIns="0" tIns="0" rIns="0" bIns="0" rtlCol="0" anchor="ctr"/>
          <a:lstStyle/>
          <a:p>
            <a:pPr indent="0" marL="0">
              <a:buNone/>
            </a:pPr>
            <a:r>
              <a:rPr lang="en-US" sz="3800" b="1" dirty="0">
                <a:solidFill>
                  <a:srgbClr val="1A1A2E"/>
                </a:solidFill>
                <a:latin typeface="Georgia" pitchFamily="34" charset="0"/>
                <a:ea typeface="Georgia" pitchFamily="34" charset="-122"/>
                <a:cs typeface="Georgia" pitchFamily="34" charset="-120"/>
              </a:rPr>
              <a:t>Turn a grandmother's voice into a bilingual family book.</a:t>
            </a:r>
            <a:endParaRPr lang="en-US" sz="3800" dirty="0"/>
          </a:p>
        </p:txBody>
      </p:sp>
      <p:sp>
        <p:nvSpPr>
          <p:cNvPr id="6" name="Shape 4"/>
          <p:cNvSpPr/>
          <p:nvPr/>
        </p:nvSpPr>
        <p:spPr>
          <a:xfrm>
            <a:off x="457200" y="2194560"/>
            <a:ext cx="4069080" cy="1280160"/>
          </a:xfrm>
          <a:prstGeom prst="rect">
            <a:avLst/>
          </a:prstGeom>
          <a:solidFill>
            <a:srgbClr val="1A1A2E"/>
          </a:solidFill>
          <a:ln w="12700">
            <a:solidFill>
              <a:srgbClr val="1A1A2E"/>
            </a:solidFill>
            <a:prstDash val="solid"/>
          </a:ln>
        </p:spPr>
      </p:sp>
      <p:sp>
        <p:nvSpPr>
          <p:cNvPr id="7" name="Shape 5"/>
          <p:cNvSpPr/>
          <p:nvPr/>
        </p:nvSpPr>
        <p:spPr>
          <a:xfrm>
            <a:off x="457200" y="2194560"/>
            <a:ext cx="82296" cy="1280160"/>
          </a:xfrm>
          <a:prstGeom prst="rect">
            <a:avLst/>
          </a:prstGeom>
          <a:solidFill>
            <a:srgbClr val="B5693A"/>
          </a:solidFill>
          <a:ln w="12700">
            <a:solidFill>
              <a:srgbClr val="B5693A"/>
            </a:solidFill>
            <a:prstDash val="solid"/>
          </a:ln>
        </p:spPr>
      </p:sp>
      <p:sp>
        <p:nvSpPr>
          <p:cNvPr id="8" name="Shape 6"/>
          <p:cNvSpPr/>
          <p:nvPr/>
        </p:nvSpPr>
        <p:spPr>
          <a:xfrm>
            <a:off x="658368" y="2322576"/>
            <a:ext cx="201168" cy="201168"/>
          </a:xfrm>
          <a:prstGeom prst="ellipse">
            <a:avLst/>
          </a:prstGeom>
          <a:solidFill>
            <a:srgbClr val="B5693A"/>
          </a:solidFill>
          <a:ln w="12700">
            <a:solidFill>
              <a:srgbClr val="B5693A"/>
            </a:solidFill>
            <a:prstDash val="solid"/>
          </a:ln>
        </p:spPr>
      </p:sp>
      <p:sp>
        <p:nvSpPr>
          <p:cNvPr id="9" name="Text 7"/>
          <p:cNvSpPr/>
          <p:nvPr/>
        </p:nvSpPr>
        <p:spPr>
          <a:xfrm>
            <a:off x="987552" y="2304288"/>
            <a:ext cx="3429000" cy="384048"/>
          </a:xfrm>
          <a:prstGeom prst="rect">
            <a:avLst/>
          </a:prstGeom>
          <a:noFill/>
          <a:ln/>
        </p:spPr>
        <p:txBody>
          <a:bodyPr wrap="square" lIns="0" tIns="0" rIns="0" bIns="0" rtlCol="0" anchor="ctr"/>
          <a:lstStyle/>
          <a:p>
            <a:pPr indent="0" marL="0">
              <a:buNone/>
            </a:pPr>
            <a:r>
              <a:rPr lang="en-US" sz="1500" b="1" dirty="0">
                <a:solidFill>
                  <a:srgbClr val="F5F0E8"/>
                </a:solidFill>
                <a:latin typeface="Calibri" pitchFamily="34" charset="0"/>
                <a:ea typeface="Calibri" pitchFamily="34" charset="-122"/>
                <a:cs typeface="Calibri" pitchFamily="34" charset="-120"/>
              </a:rPr>
              <a:t>Record</a:t>
            </a:r>
            <a:endParaRPr lang="en-US" sz="1500" dirty="0"/>
          </a:p>
        </p:txBody>
      </p:sp>
      <p:sp>
        <p:nvSpPr>
          <p:cNvPr id="10" name="Text 8"/>
          <p:cNvSpPr/>
          <p:nvPr/>
        </p:nvSpPr>
        <p:spPr>
          <a:xfrm>
            <a:off x="658368" y="2715768"/>
            <a:ext cx="3749040" cy="694944"/>
          </a:xfrm>
          <a:prstGeom prst="rect">
            <a:avLst/>
          </a:prstGeom>
          <a:noFill/>
          <a:ln/>
        </p:spPr>
        <p:txBody>
          <a:bodyPr wrap="square" lIns="0" tIns="0" rIns="0" bIns="0" rtlCol="0" anchor="t"/>
          <a:lstStyle/>
          <a:p>
            <a:pPr indent="0" marL="0">
              <a:buNone/>
            </a:pPr>
            <a:r>
              <a:rPr lang="en-US" sz="1250" dirty="0">
                <a:solidFill>
                  <a:srgbClr val="E8DCC8"/>
                </a:solidFill>
                <a:latin typeface="Calibri" pitchFamily="34" charset="0"/>
                <a:ea typeface="Calibri" pitchFamily="34" charset="-122"/>
                <a:cs typeface="Calibri" pitchFamily="34" charset="-120"/>
              </a:rPr>
              <a:t>Family members record audio on any device. No app download. No login required.</a:t>
            </a:r>
            <a:endParaRPr lang="en-US" sz="1250" dirty="0"/>
          </a:p>
        </p:txBody>
      </p:sp>
      <p:sp>
        <p:nvSpPr>
          <p:cNvPr id="11" name="Shape 9"/>
          <p:cNvSpPr/>
          <p:nvPr/>
        </p:nvSpPr>
        <p:spPr>
          <a:xfrm>
            <a:off x="4754880" y="2194560"/>
            <a:ext cx="4069080" cy="1280160"/>
          </a:xfrm>
          <a:prstGeom prst="rect">
            <a:avLst/>
          </a:prstGeom>
          <a:solidFill>
            <a:srgbClr val="1A1A2E"/>
          </a:solidFill>
          <a:ln w="12700">
            <a:solidFill>
              <a:srgbClr val="1A1A2E"/>
            </a:solidFill>
            <a:prstDash val="solid"/>
          </a:ln>
        </p:spPr>
      </p:sp>
      <p:sp>
        <p:nvSpPr>
          <p:cNvPr id="12" name="Shape 10"/>
          <p:cNvSpPr/>
          <p:nvPr/>
        </p:nvSpPr>
        <p:spPr>
          <a:xfrm>
            <a:off x="4754880" y="2194560"/>
            <a:ext cx="82296" cy="1280160"/>
          </a:xfrm>
          <a:prstGeom prst="rect">
            <a:avLst/>
          </a:prstGeom>
          <a:solidFill>
            <a:srgbClr val="1A1A2E"/>
          </a:solidFill>
          <a:ln w="12700">
            <a:solidFill>
              <a:srgbClr val="1A1A2E"/>
            </a:solidFill>
            <a:prstDash val="solid"/>
          </a:ln>
        </p:spPr>
      </p:sp>
      <p:sp>
        <p:nvSpPr>
          <p:cNvPr id="13" name="Shape 11"/>
          <p:cNvSpPr/>
          <p:nvPr/>
        </p:nvSpPr>
        <p:spPr>
          <a:xfrm>
            <a:off x="4956048" y="2322576"/>
            <a:ext cx="201168" cy="201168"/>
          </a:xfrm>
          <a:prstGeom prst="ellipse">
            <a:avLst/>
          </a:prstGeom>
          <a:solidFill>
            <a:srgbClr val="1A1A2E"/>
          </a:solidFill>
          <a:ln w="12700">
            <a:solidFill>
              <a:srgbClr val="1A1A2E"/>
            </a:solidFill>
            <a:prstDash val="solid"/>
          </a:ln>
        </p:spPr>
      </p:sp>
      <p:sp>
        <p:nvSpPr>
          <p:cNvPr id="14" name="Text 12"/>
          <p:cNvSpPr/>
          <p:nvPr/>
        </p:nvSpPr>
        <p:spPr>
          <a:xfrm>
            <a:off x="5285232" y="2304288"/>
            <a:ext cx="3429000" cy="384048"/>
          </a:xfrm>
          <a:prstGeom prst="rect">
            <a:avLst/>
          </a:prstGeom>
          <a:noFill/>
          <a:ln/>
        </p:spPr>
        <p:txBody>
          <a:bodyPr wrap="square" lIns="0" tIns="0" rIns="0" bIns="0" rtlCol="0" anchor="ctr"/>
          <a:lstStyle/>
          <a:p>
            <a:pPr indent="0" marL="0">
              <a:buNone/>
            </a:pPr>
            <a:r>
              <a:rPr lang="en-US" sz="1500" b="1" dirty="0">
                <a:solidFill>
                  <a:srgbClr val="F5F0E8"/>
                </a:solidFill>
                <a:latin typeface="Calibri" pitchFamily="34" charset="0"/>
                <a:ea typeface="Calibri" pitchFamily="34" charset="-122"/>
                <a:cs typeface="Calibri" pitchFamily="34" charset="-120"/>
              </a:rPr>
              <a:t>AI Pipeline</a:t>
            </a:r>
            <a:endParaRPr lang="en-US" sz="1500" dirty="0"/>
          </a:p>
        </p:txBody>
      </p:sp>
      <p:sp>
        <p:nvSpPr>
          <p:cNvPr id="15" name="Text 13"/>
          <p:cNvSpPr/>
          <p:nvPr/>
        </p:nvSpPr>
        <p:spPr>
          <a:xfrm>
            <a:off x="4956048" y="2715768"/>
            <a:ext cx="3749040" cy="694944"/>
          </a:xfrm>
          <a:prstGeom prst="rect">
            <a:avLst/>
          </a:prstGeom>
          <a:noFill/>
          <a:ln/>
        </p:spPr>
        <p:txBody>
          <a:bodyPr wrap="square" lIns="0" tIns="0" rIns="0" bIns="0" rtlCol="0" anchor="t"/>
          <a:lstStyle/>
          <a:p>
            <a:pPr indent="0" marL="0">
              <a:buNone/>
            </a:pPr>
            <a:r>
              <a:rPr lang="en-US" sz="1250" dirty="0">
                <a:solidFill>
                  <a:srgbClr val="E8DCC8"/>
                </a:solidFill>
                <a:latin typeface="Calibri" pitchFamily="34" charset="0"/>
                <a:ea typeface="Calibri" pitchFamily="34" charset="-122"/>
                <a:cs typeface="Calibri" pitchFamily="34" charset="-120"/>
              </a:rPr>
              <a:t>Auto-transcription, translation, cultural nuance flagging -- all in under 10 minutes.</a:t>
            </a:r>
            <a:endParaRPr lang="en-US" sz="1250" dirty="0"/>
          </a:p>
        </p:txBody>
      </p:sp>
      <p:sp>
        <p:nvSpPr>
          <p:cNvPr id="16" name="Shape 14"/>
          <p:cNvSpPr/>
          <p:nvPr/>
        </p:nvSpPr>
        <p:spPr>
          <a:xfrm>
            <a:off x="457200" y="3547872"/>
            <a:ext cx="4069080" cy="1280160"/>
          </a:xfrm>
          <a:prstGeom prst="rect">
            <a:avLst/>
          </a:prstGeom>
          <a:solidFill>
            <a:srgbClr val="1A1A2E"/>
          </a:solidFill>
          <a:ln w="12700">
            <a:solidFill>
              <a:srgbClr val="1A1A2E"/>
            </a:solidFill>
            <a:prstDash val="solid"/>
          </a:ln>
        </p:spPr>
      </p:sp>
      <p:sp>
        <p:nvSpPr>
          <p:cNvPr id="17" name="Shape 15"/>
          <p:cNvSpPr/>
          <p:nvPr/>
        </p:nvSpPr>
        <p:spPr>
          <a:xfrm>
            <a:off x="457200" y="3547872"/>
            <a:ext cx="82296" cy="1280160"/>
          </a:xfrm>
          <a:prstGeom prst="rect">
            <a:avLst/>
          </a:prstGeom>
          <a:solidFill>
            <a:srgbClr val="B5693A"/>
          </a:solidFill>
          <a:ln w="12700">
            <a:solidFill>
              <a:srgbClr val="B5693A"/>
            </a:solidFill>
            <a:prstDash val="solid"/>
          </a:ln>
        </p:spPr>
      </p:sp>
      <p:sp>
        <p:nvSpPr>
          <p:cNvPr id="18" name="Shape 16"/>
          <p:cNvSpPr/>
          <p:nvPr/>
        </p:nvSpPr>
        <p:spPr>
          <a:xfrm>
            <a:off x="658368" y="3675888"/>
            <a:ext cx="201168" cy="201168"/>
          </a:xfrm>
          <a:prstGeom prst="ellipse">
            <a:avLst/>
          </a:prstGeom>
          <a:solidFill>
            <a:srgbClr val="B5693A"/>
          </a:solidFill>
          <a:ln w="12700">
            <a:solidFill>
              <a:srgbClr val="B5693A"/>
            </a:solidFill>
            <a:prstDash val="solid"/>
          </a:ln>
        </p:spPr>
      </p:sp>
      <p:sp>
        <p:nvSpPr>
          <p:cNvPr id="19" name="Text 17"/>
          <p:cNvSpPr/>
          <p:nvPr/>
        </p:nvSpPr>
        <p:spPr>
          <a:xfrm>
            <a:off x="987552" y="3657600"/>
            <a:ext cx="3429000" cy="384048"/>
          </a:xfrm>
          <a:prstGeom prst="rect">
            <a:avLst/>
          </a:prstGeom>
          <a:noFill/>
          <a:ln/>
        </p:spPr>
        <p:txBody>
          <a:bodyPr wrap="square" lIns="0" tIns="0" rIns="0" bIns="0" rtlCol="0" anchor="ctr"/>
          <a:lstStyle/>
          <a:p>
            <a:pPr indent="0" marL="0">
              <a:buNone/>
            </a:pPr>
            <a:r>
              <a:rPr lang="en-US" sz="1500" b="1" dirty="0">
                <a:solidFill>
                  <a:srgbClr val="F5F0E8"/>
                </a:solidFill>
                <a:latin typeface="Calibri" pitchFamily="34" charset="0"/>
                <a:ea typeface="Calibri" pitchFamily="34" charset="-122"/>
                <a:cs typeface="Calibri" pitchFamily="34" charset="-120"/>
              </a:rPr>
              <a:t>Keeper Review</a:t>
            </a:r>
            <a:endParaRPr lang="en-US" sz="1500" dirty="0"/>
          </a:p>
        </p:txBody>
      </p:sp>
      <p:sp>
        <p:nvSpPr>
          <p:cNvPr id="20" name="Text 18"/>
          <p:cNvSpPr/>
          <p:nvPr/>
        </p:nvSpPr>
        <p:spPr>
          <a:xfrm>
            <a:off x="658368" y="4069080"/>
            <a:ext cx="3749040" cy="694944"/>
          </a:xfrm>
          <a:prstGeom prst="rect">
            <a:avLst/>
          </a:prstGeom>
          <a:noFill/>
          <a:ln/>
        </p:spPr>
        <p:txBody>
          <a:bodyPr wrap="square" lIns="0" tIns="0" rIns="0" bIns="0" rtlCol="0" anchor="t"/>
          <a:lstStyle/>
          <a:p>
            <a:pPr indent="0" marL="0">
              <a:buNone/>
            </a:pPr>
            <a:r>
              <a:rPr lang="en-US" sz="1250" dirty="0">
                <a:solidFill>
                  <a:srgbClr val="E8DCC8"/>
                </a:solidFill>
                <a:latin typeface="Calibri" pitchFamily="34" charset="0"/>
                <a:ea typeface="Calibri" pitchFamily="34" charset="-122"/>
                <a:cs typeface="Calibri" pitchFamily="34" charset="-120"/>
              </a:rPr>
              <a:t>A trusted family curator reviews and approves before anything is shared.</a:t>
            </a:r>
            <a:endParaRPr lang="en-US" sz="1250" dirty="0"/>
          </a:p>
        </p:txBody>
      </p:sp>
      <p:sp>
        <p:nvSpPr>
          <p:cNvPr id="21" name="Shape 19"/>
          <p:cNvSpPr/>
          <p:nvPr/>
        </p:nvSpPr>
        <p:spPr>
          <a:xfrm>
            <a:off x="4754880" y="3547872"/>
            <a:ext cx="4069080" cy="1280160"/>
          </a:xfrm>
          <a:prstGeom prst="rect">
            <a:avLst/>
          </a:prstGeom>
          <a:solidFill>
            <a:srgbClr val="1A1A2E"/>
          </a:solidFill>
          <a:ln w="12700">
            <a:solidFill>
              <a:srgbClr val="1A1A2E"/>
            </a:solidFill>
            <a:prstDash val="solid"/>
          </a:ln>
        </p:spPr>
      </p:sp>
      <p:sp>
        <p:nvSpPr>
          <p:cNvPr id="22" name="Shape 20"/>
          <p:cNvSpPr/>
          <p:nvPr/>
        </p:nvSpPr>
        <p:spPr>
          <a:xfrm>
            <a:off x="4754880" y="3547872"/>
            <a:ext cx="82296" cy="1280160"/>
          </a:xfrm>
          <a:prstGeom prst="rect">
            <a:avLst/>
          </a:prstGeom>
          <a:solidFill>
            <a:srgbClr val="B5693A"/>
          </a:solidFill>
          <a:ln w="12700">
            <a:solidFill>
              <a:srgbClr val="B5693A"/>
            </a:solidFill>
            <a:prstDash val="solid"/>
          </a:ln>
        </p:spPr>
      </p:sp>
      <p:sp>
        <p:nvSpPr>
          <p:cNvPr id="23" name="Shape 21"/>
          <p:cNvSpPr/>
          <p:nvPr/>
        </p:nvSpPr>
        <p:spPr>
          <a:xfrm>
            <a:off x="4956048" y="3675888"/>
            <a:ext cx="201168" cy="201168"/>
          </a:xfrm>
          <a:prstGeom prst="ellipse">
            <a:avLst/>
          </a:prstGeom>
          <a:solidFill>
            <a:srgbClr val="B5693A"/>
          </a:solidFill>
          <a:ln w="12700">
            <a:solidFill>
              <a:srgbClr val="B5693A"/>
            </a:solidFill>
            <a:prstDash val="solid"/>
          </a:ln>
        </p:spPr>
      </p:sp>
      <p:sp>
        <p:nvSpPr>
          <p:cNvPr id="24" name="Text 22"/>
          <p:cNvSpPr/>
          <p:nvPr/>
        </p:nvSpPr>
        <p:spPr>
          <a:xfrm>
            <a:off x="5285232" y="3657600"/>
            <a:ext cx="3429000" cy="384048"/>
          </a:xfrm>
          <a:prstGeom prst="rect">
            <a:avLst/>
          </a:prstGeom>
          <a:noFill/>
          <a:ln/>
        </p:spPr>
        <p:txBody>
          <a:bodyPr wrap="square" lIns="0" tIns="0" rIns="0" bIns="0" rtlCol="0" anchor="ctr"/>
          <a:lstStyle/>
          <a:p>
            <a:pPr indent="0" marL="0">
              <a:buNone/>
            </a:pPr>
            <a:r>
              <a:rPr lang="en-US" sz="1500" b="1" dirty="0">
                <a:solidFill>
                  <a:srgbClr val="F5F0E8"/>
                </a:solidFill>
                <a:latin typeface="Calibri" pitchFamily="34" charset="0"/>
                <a:ea typeface="Calibri" pitchFamily="34" charset="-122"/>
                <a:cs typeface="Calibri" pitchFamily="34" charset="-120"/>
              </a:rPr>
              <a:t>Family Book</a:t>
            </a:r>
            <a:endParaRPr lang="en-US" sz="1500" dirty="0"/>
          </a:p>
        </p:txBody>
      </p:sp>
      <p:sp>
        <p:nvSpPr>
          <p:cNvPr id="25" name="Text 23"/>
          <p:cNvSpPr/>
          <p:nvPr/>
        </p:nvSpPr>
        <p:spPr>
          <a:xfrm>
            <a:off x="4956048" y="4069080"/>
            <a:ext cx="3749040" cy="694944"/>
          </a:xfrm>
          <a:prstGeom prst="rect">
            <a:avLst/>
          </a:prstGeom>
          <a:noFill/>
          <a:ln/>
        </p:spPr>
        <p:txBody>
          <a:bodyPr wrap="square" lIns="0" tIns="0" rIns="0" bIns="0" rtlCol="0" anchor="t"/>
          <a:lstStyle/>
          <a:p>
            <a:pPr indent="0" marL="0">
              <a:buNone/>
            </a:pPr>
            <a:r>
              <a:rPr lang="en-US" sz="1250" dirty="0">
                <a:solidFill>
                  <a:srgbClr val="E8DCC8"/>
                </a:solidFill>
                <a:latin typeface="Calibri" pitchFamily="34" charset="0"/>
                <a:ea typeface="Calibri" pitchFamily="34" charset="-122"/>
                <a:cs typeface="Calibri" pitchFamily="34" charset="-120"/>
              </a:rPr>
              <a:t>A living, bilingual archive -- private, beautiful, accessible from anywhere.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1A2E"/>
          </a:solidFill>
          <a:ln w="12700">
            <a:solidFill>
              <a:srgbClr val="1A1A2E"/>
            </a:solidFill>
            <a:prstDash val="solid"/>
          </a:ln>
        </p:spPr>
      </p:sp>
      <p:sp>
        <p:nvSpPr>
          <p:cNvPr id="3" name="Text 1"/>
          <p:cNvSpPr/>
          <p:nvPr/>
        </p:nvSpPr>
        <p:spPr>
          <a:xfrm>
            <a:off x="365760" y="256032"/>
            <a:ext cx="7315200" cy="320040"/>
          </a:xfrm>
          <a:prstGeom prst="rect">
            <a:avLst/>
          </a:prstGeom>
          <a:noFill/>
          <a:ln/>
        </p:spPr>
        <p:txBody>
          <a:bodyPr wrap="square" lIns="0" tIns="0" rIns="0" bIns="0" rtlCol="0" anchor="ctr"/>
          <a:lstStyle/>
          <a:p>
            <a:pPr indent="0" marL="0">
              <a:buNone/>
            </a:pPr>
            <a:r>
              <a:rPr lang="en-US" sz="1100" b="1" spc="400" kern="0" dirty="0">
                <a:solidFill>
                  <a:srgbClr val="1A1A2E"/>
                </a:solidFill>
                <a:latin typeface="Calibri" pitchFamily="34" charset="0"/>
                <a:ea typeface="Calibri" pitchFamily="34" charset="-122"/>
                <a:cs typeface="Calibri" pitchFamily="34" charset="-120"/>
              </a:rPr>
              <a:t>HOW IT WORKS</a:t>
            </a:r>
            <a:endParaRPr lang="en-US" sz="1100" dirty="0"/>
          </a:p>
        </p:txBody>
      </p:sp>
      <p:sp>
        <p:nvSpPr>
          <p:cNvPr id="4" name="Text 2"/>
          <p:cNvSpPr/>
          <p:nvPr/>
        </p:nvSpPr>
        <p:spPr>
          <a:xfrm>
            <a:off x="365760" y="621792"/>
            <a:ext cx="8503920" cy="594360"/>
          </a:xfrm>
          <a:prstGeom prst="rect">
            <a:avLst/>
          </a:prstGeom>
          <a:noFill/>
          <a:ln/>
        </p:spPr>
        <p:txBody>
          <a:bodyPr wrap="square" lIns="0" tIns="0" rIns="0" bIns="0"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One recording. Seven intelligent steps.</a:t>
            </a:r>
            <a:endParaRPr lang="en-US" sz="3000" dirty="0"/>
          </a:p>
        </p:txBody>
      </p:sp>
      <p:sp>
        <p:nvSpPr>
          <p:cNvPr id="5" name="Shape 3"/>
          <p:cNvSpPr/>
          <p:nvPr/>
        </p:nvSpPr>
        <p:spPr>
          <a:xfrm>
            <a:off x="548640" y="1481328"/>
            <a:ext cx="713232" cy="713232"/>
          </a:xfrm>
          <a:prstGeom prst="ellipse">
            <a:avLst/>
          </a:prstGeom>
          <a:solidFill>
            <a:srgbClr val="1A1A2E"/>
          </a:solidFill>
          <a:ln w="12700">
            <a:solidFill>
              <a:srgbClr val="1A1A2E"/>
            </a:solidFill>
            <a:prstDash val="solid"/>
          </a:ln>
        </p:spPr>
      </p:sp>
      <p:sp>
        <p:nvSpPr>
          <p:cNvPr id="6" name="Text 4"/>
          <p:cNvSpPr/>
          <p:nvPr/>
        </p:nvSpPr>
        <p:spPr>
          <a:xfrm>
            <a:off x="548640" y="1481328"/>
            <a:ext cx="713232" cy="713232"/>
          </a:xfrm>
          <a:prstGeom prst="rect">
            <a:avLst/>
          </a:prstGeom>
          <a:noFill/>
          <a:ln/>
        </p:spPr>
        <p:txBody>
          <a:bodyPr wrap="square" lIns="0" tIns="0" rIns="0" bIns="0" rtlCol="0" anchor="ctr"/>
          <a:lstStyle/>
          <a:p>
            <a:pPr algn="ctr" indent="0" marL="0">
              <a:buNone/>
            </a:pPr>
            <a:r>
              <a:rPr lang="en-US" sz="1700" b="1" dirty="0">
                <a:solidFill>
                  <a:srgbClr val="F5F0E8"/>
                </a:solidFill>
                <a:latin typeface="Calibri" pitchFamily="34" charset="0"/>
                <a:ea typeface="Calibri" pitchFamily="34" charset="-122"/>
                <a:cs typeface="Calibri" pitchFamily="34" charset="-120"/>
              </a:rPr>
              <a:t>1</a:t>
            </a:r>
            <a:endParaRPr lang="en-US" sz="1700" dirty="0"/>
          </a:p>
        </p:txBody>
      </p:sp>
      <p:sp>
        <p:nvSpPr>
          <p:cNvPr id="7" name="Shape 5"/>
          <p:cNvSpPr/>
          <p:nvPr/>
        </p:nvSpPr>
        <p:spPr>
          <a:xfrm>
            <a:off x="1271016" y="1810512"/>
            <a:ext cx="292608" cy="54864"/>
          </a:xfrm>
          <a:prstGeom prst="rect">
            <a:avLst/>
          </a:prstGeom>
          <a:solidFill>
            <a:srgbClr val="E8DCC8"/>
          </a:solidFill>
          <a:ln w="12700">
            <a:solidFill>
              <a:srgbClr val="E8DCC8"/>
            </a:solidFill>
            <a:prstDash val="solid"/>
          </a:ln>
        </p:spPr>
      </p:sp>
      <p:sp>
        <p:nvSpPr>
          <p:cNvPr id="8" name="Text 6"/>
          <p:cNvSpPr/>
          <p:nvPr/>
        </p:nvSpPr>
        <p:spPr>
          <a:xfrm>
            <a:off x="347472" y="2304288"/>
            <a:ext cx="1115568" cy="804672"/>
          </a:xfrm>
          <a:prstGeom prst="rect">
            <a:avLst/>
          </a:prstGeom>
          <a:noFill/>
          <a:ln/>
        </p:spPr>
        <p:txBody>
          <a:bodyPr wrap="square" lIns="0" tIns="0" rIns="0" bIns="0" rtlCol="0" anchor="t"/>
          <a:lstStyle/>
          <a:p>
            <a:pPr algn="ctr" indent="0" marL="0">
              <a:buNone/>
            </a:pPr>
            <a:r>
              <a:rPr lang="en-US" sz="1050" dirty="0">
                <a:solidFill>
                  <a:srgbClr val="1A1A2E"/>
                </a:solidFill>
                <a:latin typeface="Calibri" pitchFamily="34" charset="0"/>
                <a:ea typeface="Calibri" pitchFamily="34" charset="-122"/>
                <a:cs typeface="Calibri" pitchFamily="34" charset="-120"/>
              </a:rPr>
              <a:t>Audio</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Capture</a:t>
            </a:r>
            <a:endParaRPr lang="en-US" sz="1050" dirty="0"/>
          </a:p>
        </p:txBody>
      </p:sp>
      <p:sp>
        <p:nvSpPr>
          <p:cNvPr id="9" name="Shape 7"/>
          <p:cNvSpPr/>
          <p:nvPr/>
        </p:nvSpPr>
        <p:spPr>
          <a:xfrm>
            <a:off x="1764792" y="1481328"/>
            <a:ext cx="713232" cy="713232"/>
          </a:xfrm>
          <a:prstGeom prst="ellipse">
            <a:avLst/>
          </a:prstGeom>
          <a:solidFill>
            <a:srgbClr val="B5693A"/>
          </a:solidFill>
          <a:ln w="12700">
            <a:solidFill>
              <a:srgbClr val="B5693A"/>
            </a:solidFill>
            <a:prstDash val="solid"/>
          </a:ln>
        </p:spPr>
      </p:sp>
      <p:sp>
        <p:nvSpPr>
          <p:cNvPr id="10" name="Text 8"/>
          <p:cNvSpPr/>
          <p:nvPr/>
        </p:nvSpPr>
        <p:spPr>
          <a:xfrm>
            <a:off x="1764792" y="1481328"/>
            <a:ext cx="713232" cy="713232"/>
          </a:xfrm>
          <a:prstGeom prst="rect">
            <a:avLst/>
          </a:prstGeom>
          <a:noFill/>
          <a:ln/>
        </p:spPr>
        <p:txBody>
          <a:bodyPr wrap="square" lIns="0" tIns="0" rIns="0" bIns="0" rtlCol="0" anchor="ctr"/>
          <a:lstStyle/>
          <a:p>
            <a:pPr algn="ctr" indent="0" marL="0">
              <a:buNone/>
            </a:pPr>
            <a:r>
              <a:rPr lang="en-US" sz="1700" b="1" dirty="0">
                <a:solidFill>
                  <a:srgbClr val="F5F0E8"/>
                </a:solidFill>
                <a:latin typeface="Calibri" pitchFamily="34" charset="0"/>
                <a:ea typeface="Calibri" pitchFamily="34" charset="-122"/>
                <a:cs typeface="Calibri" pitchFamily="34" charset="-120"/>
              </a:rPr>
              <a:t>2</a:t>
            </a:r>
            <a:endParaRPr lang="en-US" sz="1700" dirty="0"/>
          </a:p>
        </p:txBody>
      </p:sp>
      <p:sp>
        <p:nvSpPr>
          <p:cNvPr id="11" name="Shape 9"/>
          <p:cNvSpPr/>
          <p:nvPr/>
        </p:nvSpPr>
        <p:spPr>
          <a:xfrm>
            <a:off x="2487168" y="1810512"/>
            <a:ext cx="292608" cy="54864"/>
          </a:xfrm>
          <a:prstGeom prst="rect">
            <a:avLst/>
          </a:prstGeom>
          <a:solidFill>
            <a:srgbClr val="E8DCC8"/>
          </a:solidFill>
          <a:ln w="12700">
            <a:solidFill>
              <a:srgbClr val="E8DCC8"/>
            </a:solidFill>
            <a:prstDash val="solid"/>
          </a:ln>
        </p:spPr>
      </p:sp>
      <p:sp>
        <p:nvSpPr>
          <p:cNvPr id="12" name="Text 10"/>
          <p:cNvSpPr/>
          <p:nvPr/>
        </p:nvSpPr>
        <p:spPr>
          <a:xfrm>
            <a:off x="1563624" y="2304288"/>
            <a:ext cx="1115568" cy="804672"/>
          </a:xfrm>
          <a:prstGeom prst="rect">
            <a:avLst/>
          </a:prstGeom>
          <a:noFill/>
          <a:ln/>
        </p:spPr>
        <p:txBody>
          <a:bodyPr wrap="square" lIns="0" tIns="0" rIns="0" bIns="0" rtlCol="0" anchor="t"/>
          <a:lstStyle/>
          <a:p>
            <a:pPr algn="ctr" indent="0" marL="0">
              <a:buNone/>
            </a:pPr>
            <a:r>
              <a:rPr lang="en-US" sz="1050" dirty="0">
                <a:solidFill>
                  <a:srgbClr val="1A1A2E"/>
                </a:solidFill>
                <a:latin typeface="Calibri" pitchFamily="34" charset="0"/>
                <a:ea typeface="Calibri" pitchFamily="34" charset="-122"/>
                <a:cs typeface="Calibri" pitchFamily="34" charset="-120"/>
              </a:rPr>
              <a:t>Quality</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Check</a:t>
            </a:r>
            <a:endParaRPr lang="en-US" sz="1050" dirty="0"/>
          </a:p>
        </p:txBody>
      </p:sp>
      <p:sp>
        <p:nvSpPr>
          <p:cNvPr id="13" name="Shape 11"/>
          <p:cNvSpPr/>
          <p:nvPr/>
        </p:nvSpPr>
        <p:spPr>
          <a:xfrm>
            <a:off x="2980944" y="1481328"/>
            <a:ext cx="713232" cy="713232"/>
          </a:xfrm>
          <a:prstGeom prst="ellipse">
            <a:avLst/>
          </a:prstGeom>
          <a:solidFill>
            <a:srgbClr val="B5693A"/>
          </a:solidFill>
          <a:ln w="12700">
            <a:solidFill>
              <a:srgbClr val="B5693A"/>
            </a:solidFill>
            <a:prstDash val="solid"/>
          </a:ln>
        </p:spPr>
      </p:sp>
      <p:sp>
        <p:nvSpPr>
          <p:cNvPr id="14" name="Text 12"/>
          <p:cNvSpPr/>
          <p:nvPr/>
        </p:nvSpPr>
        <p:spPr>
          <a:xfrm>
            <a:off x="2980944" y="1481328"/>
            <a:ext cx="713232" cy="713232"/>
          </a:xfrm>
          <a:prstGeom prst="rect">
            <a:avLst/>
          </a:prstGeom>
          <a:noFill/>
          <a:ln/>
        </p:spPr>
        <p:txBody>
          <a:bodyPr wrap="square" lIns="0" tIns="0" rIns="0" bIns="0" rtlCol="0" anchor="ctr"/>
          <a:lstStyle/>
          <a:p>
            <a:pPr algn="ctr" indent="0" marL="0">
              <a:buNone/>
            </a:pPr>
            <a:r>
              <a:rPr lang="en-US" sz="1700" b="1" dirty="0">
                <a:solidFill>
                  <a:srgbClr val="F5F0E8"/>
                </a:solidFill>
                <a:latin typeface="Calibri" pitchFamily="34" charset="0"/>
                <a:ea typeface="Calibri" pitchFamily="34" charset="-122"/>
                <a:cs typeface="Calibri" pitchFamily="34" charset="-120"/>
              </a:rPr>
              <a:t>3</a:t>
            </a:r>
            <a:endParaRPr lang="en-US" sz="1700" dirty="0"/>
          </a:p>
        </p:txBody>
      </p:sp>
      <p:sp>
        <p:nvSpPr>
          <p:cNvPr id="15" name="Shape 13"/>
          <p:cNvSpPr/>
          <p:nvPr/>
        </p:nvSpPr>
        <p:spPr>
          <a:xfrm>
            <a:off x="3703320" y="1810512"/>
            <a:ext cx="292608" cy="54864"/>
          </a:xfrm>
          <a:prstGeom prst="rect">
            <a:avLst/>
          </a:prstGeom>
          <a:solidFill>
            <a:srgbClr val="E8DCC8"/>
          </a:solidFill>
          <a:ln w="12700">
            <a:solidFill>
              <a:srgbClr val="E8DCC8"/>
            </a:solidFill>
            <a:prstDash val="solid"/>
          </a:ln>
        </p:spPr>
      </p:sp>
      <p:sp>
        <p:nvSpPr>
          <p:cNvPr id="16" name="Text 14"/>
          <p:cNvSpPr/>
          <p:nvPr/>
        </p:nvSpPr>
        <p:spPr>
          <a:xfrm>
            <a:off x="2779776" y="2304288"/>
            <a:ext cx="1115568" cy="804672"/>
          </a:xfrm>
          <a:prstGeom prst="rect">
            <a:avLst/>
          </a:prstGeom>
          <a:noFill/>
          <a:ln/>
        </p:spPr>
        <p:txBody>
          <a:bodyPr wrap="square" lIns="0" tIns="0" rIns="0" bIns="0" rtlCol="0" anchor="t"/>
          <a:lstStyle/>
          <a:p>
            <a:pPr algn="ctr" indent="0" marL="0">
              <a:buNone/>
            </a:pPr>
            <a:r>
              <a:rPr lang="en-US" sz="1050" dirty="0">
                <a:solidFill>
                  <a:srgbClr val="1A1A2E"/>
                </a:solidFill>
                <a:latin typeface="Calibri" pitchFamily="34" charset="0"/>
                <a:ea typeface="Calibri" pitchFamily="34" charset="-122"/>
                <a:cs typeface="Calibri" pitchFamily="34" charset="-120"/>
              </a:rPr>
              <a:t>Transcription</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KH / EN</a:t>
            </a:r>
            <a:endParaRPr lang="en-US" sz="1050" dirty="0"/>
          </a:p>
        </p:txBody>
      </p:sp>
      <p:sp>
        <p:nvSpPr>
          <p:cNvPr id="17" name="Shape 15"/>
          <p:cNvSpPr/>
          <p:nvPr/>
        </p:nvSpPr>
        <p:spPr>
          <a:xfrm>
            <a:off x="4197096" y="1481328"/>
            <a:ext cx="713232" cy="713232"/>
          </a:xfrm>
          <a:prstGeom prst="ellipse">
            <a:avLst/>
          </a:prstGeom>
          <a:solidFill>
            <a:srgbClr val="B5693A"/>
          </a:solidFill>
          <a:ln w="12700">
            <a:solidFill>
              <a:srgbClr val="B5693A"/>
            </a:solidFill>
            <a:prstDash val="solid"/>
          </a:ln>
        </p:spPr>
      </p:sp>
      <p:sp>
        <p:nvSpPr>
          <p:cNvPr id="18" name="Text 16"/>
          <p:cNvSpPr/>
          <p:nvPr/>
        </p:nvSpPr>
        <p:spPr>
          <a:xfrm>
            <a:off x="4197096" y="1481328"/>
            <a:ext cx="713232" cy="713232"/>
          </a:xfrm>
          <a:prstGeom prst="rect">
            <a:avLst/>
          </a:prstGeom>
          <a:noFill/>
          <a:ln/>
        </p:spPr>
        <p:txBody>
          <a:bodyPr wrap="square" lIns="0" tIns="0" rIns="0" bIns="0" rtlCol="0" anchor="ctr"/>
          <a:lstStyle/>
          <a:p>
            <a:pPr algn="ctr" indent="0" marL="0">
              <a:buNone/>
            </a:pPr>
            <a:r>
              <a:rPr lang="en-US" sz="1700" b="1" dirty="0">
                <a:solidFill>
                  <a:srgbClr val="F5F0E8"/>
                </a:solidFill>
                <a:latin typeface="Calibri" pitchFamily="34" charset="0"/>
                <a:ea typeface="Calibri" pitchFamily="34" charset="-122"/>
                <a:cs typeface="Calibri" pitchFamily="34" charset="-120"/>
              </a:rPr>
              <a:t>4</a:t>
            </a:r>
            <a:endParaRPr lang="en-US" sz="1700" dirty="0"/>
          </a:p>
        </p:txBody>
      </p:sp>
      <p:sp>
        <p:nvSpPr>
          <p:cNvPr id="19" name="Shape 17"/>
          <p:cNvSpPr/>
          <p:nvPr/>
        </p:nvSpPr>
        <p:spPr>
          <a:xfrm>
            <a:off x="4919472" y="1810512"/>
            <a:ext cx="292608" cy="54864"/>
          </a:xfrm>
          <a:prstGeom prst="rect">
            <a:avLst/>
          </a:prstGeom>
          <a:solidFill>
            <a:srgbClr val="E8DCC8"/>
          </a:solidFill>
          <a:ln w="12700">
            <a:solidFill>
              <a:srgbClr val="E8DCC8"/>
            </a:solidFill>
            <a:prstDash val="solid"/>
          </a:ln>
        </p:spPr>
      </p:sp>
      <p:sp>
        <p:nvSpPr>
          <p:cNvPr id="20" name="Text 18"/>
          <p:cNvSpPr/>
          <p:nvPr/>
        </p:nvSpPr>
        <p:spPr>
          <a:xfrm>
            <a:off x="3995928" y="2304288"/>
            <a:ext cx="1115568" cy="804672"/>
          </a:xfrm>
          <a:prstGeom prst="rect">
            <a:avLst/>
          </a:prstGeom>
          <a:noFill/>
          <a:ln/>
        </p:spPr>
        <p:txBody>
          <a:bodyPr wrap="square" lIns="0" tIns="0" rIns="0" bIns="0" rtlCol="0" anchor="t"/>
          <a:lstStyle/>
          <a:p>
            <a:pPr algn="ctr" indent="0" marL="0">
              <a:buNone/>
            </a:pPr>
            <a:r>
              <a:rPr lang="en-US" sz="1050" dirty="0">
                <a:solidFill>
                  <a:srgbClr val="1A1A2E"/>
                </a:solidFill>
                <a:latin typeface="Calibri" pitchFamily="34" charset="0"/>
                <a:ea typeface="Calibri" pitchFamily="34" charset="-122"/>
                <a:cs typeface="Calibri" pitchFamily="34" charset="-120"/>
              </a:rPr>
              <a:t>Translation</a:t>
            </a:r>
            <a:endParaRPr lang="en-US" sz="1050" dirty="0"/>
          </a:p>
        </p:txBody>
      </p:sp>
      <p:sp>
        <p:nvSpPr>
          <p:cNvPr id="21" name="Shape 19"/>
          <p:cNvSpPr/>
          <p:nvPr/>
        </p:nvSpPr>
        <p:spPr>
          <a:xfrm>
            <a:off x="5413248" y="1481328"/>
            <a:ext cx="713232" cy="713232"/>
          </a:xfrm>
          <a:prstGeom prst="ellipse">
            <a:avLst/>
          </a:prstGeom>
          <a:solidFill>
            <a:srgbClr val="B5693A"/>
          </a:solidFill>
          <a:ln w="12700">
            <a:solidFill>
              <a:srgbClr val="B5693A"/>
            </a:solidFill>
            <a:prstDash val="solid"/>
          </a:ln>
        </p:spPr>
      </p:sp>
      <p:sp>
        <p:nvSpPr>
          <p:cNvPr id="22" name="Text 20"/>
          <p:cNvSpPr/>
          <p:nvPr/>
        </p:nvSpPr>
        <p:spPr>
          <a:xfrm>
            <a:off x="5413248" y="1481328"/>
            <a:ext cx="713232" cy="713232"/>
          </a:xfrm>
          <a:prstGeom prst="rect">
            <a:avLst/>
          </a:prstGeom>
          <a:noFill/>
          <a:ln/>
        </p:spPr>
        <p:txBody>
          <a:bodyPr wrap="square" lIns="0" tIns="0" rIns="0" bIns="0" rtlCol="0" anchor="ctr"/>
          <a:lstStyle/>
          <a:p>
            <a:pPr algn="ctr" indent="0" marL="0">
              <a:buNone/>
            </a:pPr>
            <a:r>
              <a:rPr lang="en-US" sz="1700" b="1" dirty="0">
                <a:solidFill>
                  <a:srgbClr val="F5F0E8"/>
                </a:solidFill>
                <a:latin typeface="Calibri" pitchFamily="34" charset="0"/>
                <a:ea typeface="Calibri" pitchFamily="34" charset="-122"/>
                <a:cs typeface="Calibri" pitchFamily="34" charset="-120"/>
              </a:rPr>
              <a:t>5</a:t>
            </a:r>
            <a:endParaRPr lang="en-US" sz="1700" dirty="0"/>
          </a:p>
        </p:txBody>
      </p:sp>
      <p:sp>
        <p:nvSpPr>
          <p:cNvPr id="23" name="Shape 21"/>
          <p:cNvSpPr/>
          <p:nvPr/>
        </p:nvSpPr>
        <p:spPr>
          <a:xfrm>
            <a:off x="6135624" y="1810512"/>
            <a:ext cx="292608" cy="54864"/>
          </a:xfrm>
          <a:prstGeom prst="rect">
            <a:avLst/>
          </a:prstGeom>
          <a:solidFill>
            <a:srgbClr val="E8DCC8"/>
          </a:solidFill>
          <a:ln w="12700">
            <a:solidFill>
              <a:srgbClr val="E8DCC8"/>
            </a:solidFill>
            <a:prstDash val="solid"/>
          </a:ln>
        </p:spPr>
      </p:sp>
      <p:sp>
        <p:nvSpPr>
          <p:cNvPr id="24" name="Text 22"/>
          <p:cNvSpPr/>
          <p:nvPr/>
        </p:nvSpPr>
        <p:spPr>
          <a:xfrm>
            <a:off x="5212080" y="2304288"/>
            <a:ext cx="1115568" cy="804672"/>
          </a:xfrm>
          <a:prstGeom prst="rect">
            <a:avLst/>
          </a:prstGeom>
          <a:noFill/>
          <a:ln/>
        </p:spPr>
        <p:txBody>
          <a:bodyPr wrap="square" lIns="0" tIns="0" rIns="0" bIns="0" rtlCol="0" anchor="t"/>
          <a:lstStyle/>
          <a:p>
            <a:pPr algn="ctr" indent="0" marL="0">
              <a:buNone/>
            </a:pPr>
            <a:r>
              <a:rPr lang="en-US" sz="1050" dirty="0">
                <a:solidFill>
                  <a:srgbClr val="1A1A2E"/>
                </a:solidFill>
                <a:latin typeface="Calibri" pitchFamily="34" charset="0"/>
                <a:ea typeface="Calibri" pitchFamily="34" charset="-122"/>
                <a:cs typeface="Calibri" pitchFamily="34" charset="-120"/>
              </a:rPr>
              <a:t>Cultural</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Flagging</a:t>
            </a:r>
            <a:endParaRPr lang="en-US" sz="1050" dirty="0"/>
          </a:p>
        </p:txBody>
      </p:sp>
      <p:sp>
        <p:nvSpPr>
          <p:cNvPr id="25" name="Shape 23"/>
          <p:cNvSpPr/>
          <p:nvPr/>
        </p:nvSpPr>
        <p:spPr>
          <a:xfrm>
            <a:off x="6629400" y="1481328"/>
            <a:ext cx="713232" cy="713232"/>
          </a:xfrm>
          <a:prstGeom prst="ellipse">
            <a:avLst/>
          </a:prstGeom>
          <a:solidFill>
            <a:srgbClr val="B5693A"/>
          </a:solidFill>
          <a:ln w="12700">
            <a:solidFill>
              <a:srgbClr val="B5693A"/>
            </a:solidFill>
            <a:prstDash val="solid"/>
          </a:ln>
        </p:spPr>
      </p:sp>
      <p:sp>
        <p:nvSpPr>
          <p:cNvPr id="26" name="Text 24"/>
          <p:cNvSpPr/>
          <p:nvPr/>
        </p:nvSpPr>
        <p:spPr>
          <a:xfrm>
            <a:off x="6629400" y="1481328"/>
            <a:ext cx="713232" cy="713232"/>
          </a:xfrm>
          <a:prstGeom prst="rect">
            <a:avLst/>
          </a:prstGeom>
          <a:noFill/>
          <a:ln/>
        </p:spPr>
        <p:txBody>
          <a:bodyPr wrap="square" lIns="0" tIns="0" rIns="0" bIns="0" rtlCol="0" anchor="ctr"/>
          <a:lstStyle/>
          <a:p>
            <a:pPr algn="ctr" indent="0" marL="0">
              <a:buNone/>
            </a:pPr>
            <a:r>
              <a:rPr lang="en-US" sz="1700" b="1" dirty="0">
                <a:solidFill>
                  <a:srgbClr val="F5F0E8"/>
                </a:solidFill>
                <a:latin typeface="Calibri" pitchFamily="34" charset="0"/>
                <a:ea typeface="Calibri" pitchFamily="34" charset="-122"/>
                <a:cs typeface="Calibri" pitchFamily="34" charset="-120"/>
              </a:rPr>
              <a:t>6</a:t>
            </a:r>
            <a:endParaRPr lang="en-US" sz="1700" dirty="0"/>
          </a:p>
        </p:txBody>
      </p:sp>
      <p:sp>
        <p:nvSpPr>
          <p:cNvPr id="27" name="Shape 25"/>
          <p:cNvSpPr/>
          <p:nvPr/>
        </p:nvSpPr>
        <p:spPr>
          <a:xfrm>
            <a:off x="7351776" y="1810512"/>
            <a:ext cx="292608" cy="54864"/>
          </a:xfrm>
          <a:prstGeom prst="rect">
            <a:avLst/>
          </a:prstGeom>
          <a:solidFill>
            <a:srgbClr val="E8DCC8"/>
          </a:solidFill>
          <a:ln w="12700">
            <a:solidFill>
              <a:srgbClr val="E8DCC8"/>
            </a:solidFill>
            <a:prstDash val="solid"/>
          </a:ln>
        </p:spPr>
      </p:sp>
      <p:sp>
        <p:nvSpPr>
          <p:cNvPr id="28" name="Text 26"/>
          <p:cNvSpPr/>
          <p:nvPr/>
        </p:nvSpPr>
        <p:spPr>
          <a:xfrm>
            <a:off x="6428232" y="2304288"/>
            <a:ext cx="1115568" cy="804672"/>
          </a:xfrm>
          <a:prstGeom prst="rect">
            <a:avLst/>
          </a:prstGeom>
          <a:noFill/>
          <a:ln/>
        </p:spPr>
        <p:txBody>
          <a:bodyPr wrap="square" lIns="0" tIns="0" rIns="0" bIns="0" rtlCol="0" anchor="t"/>
          <a:lstStyle/>
          <a:p>
            <a:pPr algn="ctr" indent="0" marL="0">
              <a:buNone/>
            </a:pPr>
            <a:r>
              <a:rPr lang="en-US" sz="1050" dirty="0">
                <a:solidFill>
                  <a:srgbClr val="1A1A2E"/>
                </a:solidFill>
                <a:latin typeface="Calibri" pitchFamily="34" charset="0"/>
                <a:ea typeface="Calibri" pitchFamily="34" charset="-122"/>
                <a:cs typeface="Calibri" pitchFamily="34" charset="-120"/>
              </a:rPr>
              <a:t>Titles &amp;</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People Tags</a:t>
            </a:r>
            <a:endParaRPr lang="en-US" sz="1050" dirty="0"/>
          </a:p>
        </p:txBody>
      </p:sp>
      <p:sp>
        <p:nvSpPr>
          <p:cNvPr id="29" name="Shape 27"/>
          <p:cNvSpPr/>
          <p:nvPr/>
        </p:nvSpPr>
        <p:spPr>
          <a:xfrm>
            <a:off x="7845552" y="1481328"/>
            <a:ext cx="713232" cy="713232"/>
          </a:xfrm>
          <a:prstGeom prst="ellipse">
            <a:avLst/>
          </a:prstGeom>
          <a:solidFill>
            <a:srgbClr val="B5693A"/>
          </a:solidFill>
          <a:ln w="12700">
            <a:solidFill>
              <a:srgbClr val="B5693A"/>
            </a:solidFill>
            <a:prstDash val="solid"/>
          </a:ln>
        </p:spPr>
      </p:sp>
      <p:sp>
        <p:nvSpPr>
          <p:cNvPr id="30" name="Text 28"/>
          <p:cNvSpPr/>
          <p:nvPr/>
        </p:nvSpPr>
        <p:spPr>
          <a:xfrm>
            <a:off x="7845552" y="1481328"/>
            <a:ext cx="713232" cy="713232"/>
          </a:xfrm>
          <a:prstGeom prst="rect">
            <a:avLst/>
          </a:prstGeom>
          <a:noFill/>
          <a:ln/>
        </p:spPr>
        <p:txBody>
          <a:bodyPr wrap="square" lIns="0" tIns="0" rIns="0" bIns="0" rtlCol="0" anchor="ctr"/>
          <a:lstStyle/>
          <a:p>
            <a:pPr algn="ctr" indent="0" marL="0">
              <a:buNone/>
            </a:pPr>
            <a:r>
              <a:rPr lang="en-US" sz="1700" b="1" dirty="0">
                <a:solidFill>
                  <a:srgbClr val="F5F0E8"/>
                </a:solidFill>
                <a:latin typeface="Calibri" pitchFamily="34" charset="0"/>
                <a:ea typeface="Calibri" pitchFamily="34" charset="-122"/>
                <a:cs typeface="Calibri" pitchFamily="34" charset="-120"/>
              </a:rPr>
              <a:t>7</a:t>
            </a:r>
            <a:endParaRPr lang="en-US" sz="1700" dirty="0"/>
          </a:p>
        </p:txBody>
      </p:sp>
      <p:sp>
        <p:nvSpPr>
          <p:cNvPr id="31" name="Text 29"/>
          <p:cNvSpPr/>
          <p:nvPr/>
        </p:nvSpPr>
        <p:spPr>
          <a:xfrm>
            <a:off x="7644384" y="2304288"/>
            <a:ext cx="1115568" cy="804672"/>
          </a:xfrm>
          <a:prstGeom prst="rect">
            <a:avLst/>
          </a:prstGeom>
          <a:noFill/>
          <a:ln/>
        </p:spPr>
        <p:txBody>
          <a:bodyPr wrap="square" lIns="0" tIns="0" rIns="0" bIns="0" rtlCol="0" anchor="t"/>
          <a:lstStyle/>
          <a:p>
            <a:pPr algn="ctr" indent="0" marL="0">
              <a:buNone/>
            </a:pPr>
            <a:r>
              <a:rPr lang="en-US" sz="1050" dirty="0">
                <a:solidFill>
                  <a:srgbClr val="1A1A2E"/>
                </a:solidFill>
                <a:latin typeface="Calibri" pitchFamily="34" charset="0"/>
                <a:ea typeface="Calibri" pitchFamily="34" charset="-122"/>
                <a:cs typeface="Calibri" pitchFamily="34" charset="-120"/>
              </a:rPr>
              <a:t>Keeper</a:t>
            </a:r>
            <a:endParaRPr lang="en-US" sz="1050" dirty="0"/>
          </a:p>
          <a:p>
            <a:pPr algn="ctr" indent="0" marL="0">
              <a:buNone/>
            </a:pPr>
            <a:r>
              <a:rPr lang="en-US" sz="1050" dirty="0">
                <a:solidFill>
                  <a:srgbClr val="1A1A2E"/>
                </a:solidFill>
                <a:latin typeface="Calibri" pitchFamily="34" charset="0"/>
                <a:ea typeface="Calibri" pitchFamily="34" charset="-122"/>
                <a:cs typeface="Calibri" pitchFamily="34" charset="-120"/>
              </a:rPr>
              <a:t>Review</a:t>
            </a:r>
            <a:endParaRPr lang="en-US" sz="1050" dirty="0"/>
          </a:p>
        </p:txBody>
      </p:sp>
      <p:sp>
        <p:nvSpPr>
          <p:cNvPr id="32" name="Shape 30"/>
          <p:cNvSpPr/>
          <p:nvPr/>
        </p:nvSpPr>
        <p:spPr>
          <a:xfrm>
            <a:off x="347472" y="2971800"/>
            <a:ext cx="8503920" cy="45720"/>
          </a:xfrm>
          <a:prstGeom prst="rect">
            <a:avLst/>
          </a:prstGeom>
          <a:solidFill>
            <a:srgbClr val="E8DCC8"/>
          </a:solidFill>
          <a:ln w="12700">
            <a:solidFill>
              <a:srgbClr val="E8DCC8"/>
            </a:solidFill>
            <a:prstDash val="solid"/>
          </a:ln>
        </p:spPr>
      </p:sp>
      <p:sp>
        <p:nvSpPr>
          <p:cNvPr id="33" name="Text 31"/>
          <p:cNvSpPr/>
          <p:nvPr/>
        </p:nvSpPr>
        <p:spPr>
          <a:xfrm>
            <a:off x="365760" y="3090672"/>
            <a:ext cx="8412480" cy="475488"/>
          </a:xfrm>
          <a:prstGeom prst="rect">
            <a:avLst/>
          </a:prstGeom>
          <a:noFill/>
          <a:ln/>
        </p:spPr>
        <p:txBody>
          <a:bodyPr wrap="square" lIns="0" tIns="0" rIns="0" bIns="0" rtlCol="0" anchor="ctr"/>
          <a:lstStyle/>
          <a:p>
            <a:pPr algn="ctr" indent="0" marL="0">
              <a:buNone/>
            </a:pPr>
            <a:r>
              <a:rPr lang="en-US" sz="1400" b="1" i="1" dirty="0">
                <a:solidFill>
                  <a:srgbClr val="1A1A2E"/>
                </a:solidFill>
                <a:latin typeface="Calibri" pitchFamily="34" charset="0"/>
                <a:ea typeface="Calibri" pitchFamily="34" charset="-122"/>
                <a:cs typeface="Calibri" pitchFamily="34" charset="-120"/>
              </a:rPr>
              <a:t>The AI handles the heavy lifting. The Keeper makes the final call. Nothing goes live without human approval.</a:t>
            </a:r>
            <a:endParaRPr lang="en-US" sz="1400" dirty="0"/>
          </a:p>
        </p:txBody>
      </p:sp>
      <p:sp>
        <p:nvSpPr>
          <p:cNvPr id="34" name="Shape 32"/>
          <p:cNvSpPr/>
          <p:nvPr/>
        </p:nvSpPr>
        <p:spPr>
          <a:xfrm>
            <a:off x="457200" y="3822192"/>
            <a:ext cx="182880" cy="182880"/>
          </a:xfrm>
          <a:prstGeom prst="rect">
            <a:avLst/>
          </a:prstGeom>
          <a:solidFill>
            <a:srgbClr val="1A1A2E"/>
          </a:solidFill>
          <a:ln w="12700">
            <a:solidFill>
              <a:srgbClr val="1A1A2E"/>
            </a:solidFill>
            <a:prstDash val="solid"/>
          </a:ln>
        </p:spPr>
      </p:sp>
      <p:sp>
        <p:nvSpPr>
          <p:cNvPr id="35" name="Text 33"/>
          <p:cNvSpPr/>
          <p:nvPr/>
        </p:nvSpPr>
        <p:spPr>
          <a:xfrm>
            <a:off x="768096" y="3749040"/>
            <a:ext cx="8138160" cy="347472"/>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ElevenLabs Scribe v2 -- best-in-class Khmer speech-to-text with word-level timestamps</a:t>
            </a:r>
            <a:endParaRPr lang="en-US" sz="1150" dirty="0"/>
          </a:p>
        </p:txBody>
      </p:sp>
      <p:sp>
        <p:nvSpPr>
          <p:cNvPr id="36" name="Shape 34"/>
          <p:cNvSpPr/>
          <p:nvPr/>
        </p:nvSpPr>
        <p:spPr>
          <a:xfrm>
            <a:off x="457200" y="4187952"/>
            <a:ext cx="182880" cy="182880"/>
          </a:xfrm>
          <a:prstGeom prst="rect">
            <a:avLst/>
          </a:prstGeom>
          <a:solidFill>
            <a:srgbClr val="B5693A"/>
          </a:solidFill>
          <a:ln w="12700">
            <a:solidFill>
              <a:srgbClr val="B5693A"/>
            </a:solidFill>
            <a:prstDash val="solid"/>
          </a:ln>
        </p:spPr>
      </p:sp>
      <p:sp>
        <p:nvSpPr>
          <p:cNvPr id="37" name="Text 35"/>
          <p:cNvSpPr/>
          <p:nvPr/>
        </p:nvSpPr>
        <p:spPr>
          <a:xfrm>
            <a:off x="768096" y="4114800"/>
            <a:ext cx="8138160" cy="347472"/>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Google Translate + GPT-4o-mini -- translation with cultural nuance review</a:t>
            </a:r>
            <a:endParaRPr lang="en-US" sz="1150" dirty="0"/>
          </a:p>
        </p:txBody>
      </p:sp>
      <p:sp>
        <p:nvSpPr>
          <p:cNvPr id="38" name="Shape 36"/>
          <p:cNvSpPr/>
          <p:nvPr/>
        </p:nvSpPr>
        <p:spPr>
          <a:xfrm>
            <a:off x="457200" y="4553712"/>
            <a:ext cx="182880" cy="182880"/>
          </a:xfrm>
          <a:prstGeom prst="rect">
            <a:avLst/>
          </a:prstGeom>
          <a:solidFill>
            <a:srgbClr val="B5693A"/>
          </a:solidFill>
          <a:ln w="12700">
            <a:solidFill>
              <a:srgbClr val="B5693A"/>
            </a:solidFill>
            <a:prstDash val="solid"/>
          </a:ln>
        </p:spPr>
      </p:sp>
      <p:sp>
        <p:nvSpPr>
          <p:cNvPr id="39" name="Text 37"/>
          <p:cNvSpPr/>
          <p:nvPr/>
        </p:nvSpPr>
        <p:spPr>
          <a:xfrm>
            <a:off x="768096" y="4480560"/>
            <a:ext cx="8138160" cy="347472"/>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GDPR-compliant  |  Human-in-the-loop  |  EU AI Act: Limited Risk classification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DCC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5693A"/>
          </a:solidFill>
          <a:ln w="12700">
            <a:solidFill>
              <a:srgbClr val="B5693A"/>
            </a:solidFill>
            <a:prstDash val="solid"/>
          </a:ln>
        </p:spPr>
      </p:sp>
      <p:sp>
        <p:nvSpPr>
          <p:cNvPr id="3" name="Shape 1"/>
          <p:cNvSpPr/>
          <p:nvPr/>
        </p:nvSpPr>
        <p:spPr>
          <a:xfrm>
            <a:off x="0" y="5047488"/>
            <a:ext cx="9144000" cy="82296"/>
          </a:xfrm>
          <a:prstGeom prst="rect">
            <a:avLst/>
          </a:prstGeom>
          <a:solidFill>
            <a:srgbClr val="1A1A2E"/>
          </a:solidFill>
          <a:ln w="12700">
            <a:solidFill>
              <a:srgbClr val="1A1A2E"/>
            </a:solidFill>
            <a:prstDash val="solid"/>
          </a:ln>
        </p:spPr>
      </p:sp>
      <p:sp>
        <p:nvSpPr>
          <p:cNvPr id="4" name="Text 2"/>
          <p:cNvSpPr/>
          <p:nvPr/>
        </p:nvSpPr>
        <p:spPr>
          <a:xfrm>
            <a:off x="594360" y="228600"/>
            <a:ext cx="7315200" cy="320040"/>
          </a:xfrm>
          <a:prstGeom prst="rect">
            <a:avLst/>
          </a:prstGeom>
          <a:noFill/>
          <a:ln/>
        </p:spPr>
        <p:txBody>
          <a:bodyPr wrap="square" lIns="0" tIns="0" rIns="0" bIns="0" rtlCol="0" anchor="ctr"/>
          <a:lstStyle/>
          <a:p>
            <a:pPr indent="0" marL="0">
              <a:buNone/>
            </a:pPr>
            <a:r>
              <a:rPr lang="en-US" sz="1100" b="1" spc="400" kern="0" dirty="0">
                <a:solidFill>
                  <a:srgbClr val="B5693A"/>
                </a:solidFill>
                <a:latin typeface="Calibri" pitchFamily="34" charset="0"/>
                <a:ea typeface="Calibri" pitchFamily="34" charset="-122"/>
                <a:cs typeface="Calibri" pitchFamily="34" charset="-120"/>
              </a:rPr>
              <a:t>WHERE WE ARE</a:t>
            </a:r>
            <a:endParaRPr lang="en-US" sz="1100" dirty="0"/>
          </a:p>
        </p:txBody>
      </p:sp>
      <p:sp>
        <p:nvSpPr>
          <p:cNvPr id="5" name="Text 3"/>
          <p:cNvSpPr/>
          <p:nvPr/>
        </p:nvSpPr>
        <p:spPr>
          <a:xfrm>
            <a:off x="594360" y="621792"/>
            <a:ext cx="7772400" cy="914400"/>
          </a:xfrm>
          <a:prstGeom prst="rect">
            <a:avLst/>
          </a:prstGeom>
          <a:noFill/>
          <a:ln/>
        </p:spPr>
        <p:txBody>
          <a:bodyPr wrap="square" lIns="0" tIns="0" rIns="0" bIns="0" rtlCol="0" anchor="ctr"/>
          <a:lstStyle/>
          <a:p>
            <a:pPr indent="0" marL="0">
              <a:buNone/>
            </a:pPr>
            <a:r>
              <a:rPr lang="en-US" sz="4800" b="1" dirty="0">
                <a:solidFill>
                  <a:srgbClr val="1A1A2E"/>
                </a:solidFill>
                <a:latin typeface="Georgia" pitchFamily="34" charset="0"/>
                <a:ea typeface="Georgia" pitchFamily="34" charset="-122"/>
                <a:cs typeface="Georgia" pitchFamily="34" charset="-120"/>
              </a:rPr>
              <a:t>Phase 1: Done.</a:t>
            </a:r>
            <a:endParaRPr lang="en-US" sz="4800" dirty="0"/>
          </a:p>
        </p:txBody>
      </p:sp>
      <p:sp>
        <p:nvSpPr>
          <p:cNvPr id="6" name="Text 4"/>
          <p:cNvSpPr/>
          <p:nvPr/>
        </p:nvSpPr>
        <p:spPr>
          <a:xfrm>
            <a:off x="594360" y="1572768"/>
            <a:ext cx="7772400" cy="475488"/>
          </a:xfrm>
          <a:prstGeom prst="rect">
            <a:avLst/>
          </a:prstGeom>
          <a:noFill/>
          <a:ln/>
        </p:spPr>
        <p:txBody>
          <a:bodyPr wrap="square" lIns="0" tIns="0" rIns="0" bIns="0" rtlCol="0" anchor="ctr"/>
          <a:lstStyle/>
          <a:p>
            <a:pPr indent="0" marL="0">
              <a:buNone/>
            </a:pPr>
            <a:r>
              <a:rPr lang="en-US" sz="1700" i="1" dirty="0">
                <a:solidFill>
                  <a:srgbClr val="1A1A2E"/>
                </a:solidFill>
                <a:latin typeface="Calibri" pitchFamily="34" charset="0"/>
                <a:ea typeface="Calibri" pitchFamily="34" charset="-122"/>
                <a:cs typeface="Calibri" pitchFamily="34" charset="-120"/>
              </a:rPr>
              <a:t>The Sea family prototype is live. The pipeline works.</a:t>
            </a:r>
            <a:endParaRPr lang="en-US" sz="1700" dirty="0"/>
          </a:p>
        </p:txBody>
      </p:sp>
      <p:sp>
        <p:nvSpPr>
          <p:cNvPr id="7" name="Shape 5"/>
          <p:cNvSpPr/>
          <p:nvPr/>
        </p:nvSpPr>
        <p:spPr>
          <a:xfrm>
            <a:off x="457200" y="2194560"/>
            <a:ext cx="4069080" cy="1280160"/>
          </a:xfrm>
          <a:prstGeom prst="rect">
            <a:avLst/>
          </a:prstGeom>
          <a:solidFill>
            <a:srgbClr val="1A1A2E"/>
          </a:solidFill>
          <a:ln w="12700">
            <a:solidFill>
              <a:srgbClr val="1A1A2E"/>
            </a:solidFill>
            <a:prstDash val="solid"/>
          </a:ln>
        </p:spPr>
      </p:sp>
      <p:sp>
        <p:nvSpPr>
          <p:cNvPr id="8" name="Shape 6"/>
          <p:cNvSpPr/>
          <p:nvPr/>
        </p:nvSpPr>
        <p:spPr>
          <a:xfrm>
            <a:off x="457200" y="2194560"/>
            <a:ext cx="4069080" cy="64008"/>
          </a:xfrm>
          <a:prstGeom prst="rect">
            <a:avLst/>
          </a:prstGeom>
          <a:solidFill>
            <a:srgbClr val="B5693A"/>
          </a:solidFill>
          <a:ln w="12700">
            <a:solidFill>
              <a:srgbClr val="B5693A"/>
            </a:solidFill>
            <a:prstDash val="solid"/>
          </a:ln>
        </p:spPr>
      </p:sp>
      <p:sp>
        <p:nvSpPr>
          <p:cNvPr id="9" name="Text 7"/>
          <p:cNvSpPr/>
          <p:nvPr/>
        </p:nvSpPr>
        <p:spPr>
          <a:xfrm>
            <a:off x="640080" y="2340864"/>
            <a:ext cx="3703320" cy="384048"/>
          </a:xfrm>
          <a:prstGeom prst="rect">
            <a:avLst/>
          </a:prstGeom>
          <a:noFill/>
          <a:ln/>
        </p:spPr>
        <p:txBody>
          <a:bodyPr wrap="square" lIns="0" tIns="0" rIns="0" bIns="0" rtlCol="0" anchor="ctr"/>
          <a:lstStyle/>
          <a:p>
            <a:pPr indent="0" marL="0">
              <a:buNone/>
            </a:pPr>
            <a:r>
              <a:rPr lang="en-US" sz="1550" b="1" dirty="0">
                <a:solidFill>
                  <a:srgbClr val="F5F0E8"/>
                </a:solidFill>
                <a:latin typeface="Calibri" pitchFamily="34" charset="0"/>
                <a:ea typeface="Calibri" pitchFamily="34" charset="-122"/>
                <a:cs typeface="Calibri" pitchFamily="34" charset="-120"/>
              </a:rPr>
              <a:t>+ 4 Core Flows</a:t>
            </a:r>
            <a:endParaRPr lang="en-US" sz="1550" dirty="0"/>
          </a:p>
        </p:txBody>
      </p:sp>
      <p:sp>
        <p:nvSpPr>
          <p:cNvPr id="10" name="Text 8"/>
          <p:cNvSpPr/>
          <p:nvPr/>
        </p:nvSpPr>
        <p:spPr>
          <a:xfrm>
            <a:off x="640080" y="2761488"/>
            <a:ext cx="3703320" cy="640080"/>
          </a:xfrm>
          <a:prstGeom prst="rect">
            <a:avLst/>
          </a:prstGeom>
          <a:noFill/>
          <a:ln/>
        </p:spPr>
        <p:txBody>
          <a:bodyPr wrap="square" lIns="0" tIns="0" rIns="0" bIns="0" rtlCol="0" anchor="ctr"/>
          <a:lstStyle/>
          <a:p>
            <a:pPr indent="0" marL="0">
              <a:buNone/>
            </a:pPr>
            <a:r>
              <a:rPr lang="en-US" sz="1200" dirty="0">
                <a:solidFill>
                  <a:srgbClr val="E8DCC8"/>
                </a:solidFill>
                <a:latin typeface="Calibri" pitchFamily="34" charset="0"/>
                <a:ea typeface="Calibri" pitchFamily="34" charset="-122"/>
                <a:cs typeface="Calibri" pitchFamily="34" charset="-120"/>
              </a:rPr>
              <a:t>Capture  |  AI Pipeline  |  Keeper Review  |  Family Book</a:t>
            </a:r>
            <a:endParaRPr lang="en-US" sz="1200" dirty="0"/>
          </a:p>
        </p:txBody>
      </p:sp>
      <p:sp>
        <p:nvSpPr>
          <p:cNvPr id="11" name="Shape 9"/>
          <p:cNvSpPr/>
          <p:nvPr/>
        </p:nvSpPr>
        <p:spPr>
          <a:xfrm>
            <a:off x="4754880" y="2194560"/>
            <a:ext cx="4069080" cy="1280160"/>
          </a:xfrm>
          <a:prstGeom prst="rect">
            <a:avLst/>
          </a:prstGeom>
          <a:solidFill>
            <a:srgbClr val="1A1A2E"/>
          </a:solidFill>
          <a:ln w="12700">
            <a:solidFill>
              <a:srgbClr val="1A1A2E"/>
            </a:solidFill>
            <a:prstDash val="solid"/>
          </a:ln>
        </p:spPr>
      </p:sp>
      <p:sp>
        <p:nvSpPr>
          <p:cNvPr id="12" name="Shape 10"/>
          <p:cNvSpPr/>
          <p:nvPr/>
        </p:nvSpPr>
        <p:spPr>
          <a:xfrm>
            <a:off x="4754880" y="2194560"/>
            <a:ext cx="4069080" cy="64008"/>
          </a:xfrm>
          <a:prstGeom prst="rect">
            <a:avLst/>
          </a:prstGeom>
          <a:solidFill>
            <a:srgbClr val="1A1A2E"/>
          </a:solidFill>
          <a:ln w="12700">
            <a:solidFill>
              <a:srgbClr val="1A1A2E"/>
            </a:solidFill>
            <a:prstDash val="solid"/>
          </a:ln>
        </p:spPr>
      </p:sp>
      <p:sp>
        <p:nvSpPr>
          <p:cNvPr id="13" name="Text 11"/>
          <p:cNvSpPr/>
          <p:nvPr/>
        </p:nvSpPr>
        <p:spPr>
          <a:xfrm>
            <a:off x="4937760" y="2340864"/>
            <a:ext cx="3703320" cy="384048"/>
          </a:xfrm>
          <a:prstGeom prst="rect">
            <a:avLst/>
          </a:prstGeom>
          <a:noFill/>
          <a:ln/>
        </p:spPr>
        <p:txBody>
          <a:bodyPr wrap="square" lIns="0" tIns="0" rIns="0" bIns="0" rtlCol="0" anchor="ctr"/>
          <a:lstStyle/>
          <a:p>
            <a:pPr indent="0" marL="0">
              <a:buNone/>
            </a:pPr>
            <a:r>
              <a:rPr lang="en-US" sz="1550" b="1" dirty="0">
                <a:solidFill>
                  <a:srgbClr val="F5F0E8"/>
                </a:solidFill>
                <a:latin typeface="Calibri" pitchFamily="34" charset="0"/>
                <a:ea typeface="Calibri" pitchFamily="34" charset="-122"/>
                <a:cs typeface="Calibri" pitchFamily="34" charset="-120"/>
              </a:rPr>
              <a:t>+ Bilingual</a:t>
            </a:r>
            <a:endParaRPr lang="en-US" sz="1550" dirty="0"/>
          </a:p>
        </p:txBody>
      </p:sp>
      <p:sp>
        <p:nvSpPr>
          <p:cNvPr id="14" name="Text 12"/>
          <p:cNvSpPr/>
          <p:nvPr/>
        </p:nvSpPr>
        <p:spPr>
          <a:xfrm>
            <a:off x="4937760" y="2761488"/>
            <a:ext cx="3703320" cy="640080"/>
          </a:xfrm>
          <a:prstGeom prst="rect">
            <a:avLst/>
          </a:prstGeom>
          <a:noFill/>
          <a:ln/>
        </p:spPr>
        <p:txBody>
          <a:bodyPr wrap="square" lIns="0" tIns="0" rIns="0" bIns="0" rtlCol="0" anchor="ctr"/>
          <a:lstStyle/>
          <a:p>
            <a:pPr indent="0" marL="0">
              <a:buNone/>
            </a:pPr>
            <a:r>
              <a:rPr lang="en-US" sz="1200" dirty="0">
                <a:solidFill>
                  <a:srgbClr val="E8DCC8"/>
                </a:solidFill>
                <a:latin typeface="Calibri" pitchFamily="34" charset="0"/>
                <a:ea typeface="Calibri" pitchFamily="34" charset="-122"/>
                <a:cs typeface="Calibri" pitchFamily="34" charset="-120"/>
              </a:rPr>
              <a:t>Khmer + English across every screen and every user flow</a:t>
            </a:r>
            <a:endParaRPr lang="en-US" sz="1200" dirty="0"/>
          </a:p>
        </p:txBody>
      </p:sp>
      <p:sp>
        <p:nvSpPr>
          <p:cNvPr id="15" name="Shape 13"/>
          <p:cNvSpPr/>
          <p:nvPr/>
        </p:nvSpPr>
        <p:spPr>
          <a:xfrm>
            <a:off x="457200" y="3547872"/>
            <a:ext cx="4069080" cy="1280160"/>
          </a:xfrm>
          <a:prstGeom prst="rect">
            <a:avLst/>
          </a:prstGeom>
          <a:solidFill>
            <a:srgbClr val="1A1A2E"/>
          </a:solidFill>
          <a:ln w="12700">
            <a:solidFill>
              <a:srgbClr val="1A1A2E"/>
            </a:solidFill>
            <a:prstDash val="solid"/>
          </a:ln>
        </p:spPr>
      </p:sp>
      <p:sp>
        <p:nvSpPr>
          <p:cNvPr id="16" name="Shape 14"/>
          <p:cNvSpPr/>
          <p:nvPr/>
        </p:nvSpPr>
        <p:spPr>
          <a:xfrm>
            <a:off x="457200" y="3547872"/>
            <a:ext cx="4069080" cy="64008"/>
          </a:xfrm>
          <a:prstGeom prst="rect">
            <a:avLst/>
          </a:prstGeom>
          <a:solidFill>
            <a:srgbClr val="B5693A"/>
          </a:solidFill>
          <a:ln w="12700">
            <a:solidFill>
              <a:srgbClr val="B5693A"/>
            </a:solidFill>
            <a:prstDash val="solid"/>
          </a:ln>
        </p:spPr>
      </p:sp>
      <p:sp>
        <p:nvSpPr>
          <p:cNvPr id="17" name="Text 15"/>
          <p:cNvSpPr/>
          <p:nvPr/>
        </p:nvSpPr>
        <p:spPr>
          <a:xfrm>
            <a:off x="640080" y="3694176"/>
            <a:ext cx="3703320" cy="384048"/>
          </a:xfrm>
          <a:prstGeom prst="rect">
            <a:avLst/>
          </a:prstGeom>
          <a:noFill/>
          <a:ln/>
        </p:spPr>
        <p:txBody>
          <a:bodyPr wrap="square" lIns="0" tIns="0" rIns="0" bIns="0" rtlCol="0" anchor="ctr"/>
          <a:lstStyle/>
          <a:p>
            <a:pPr indent="0" marL="0">
              <a:buNone/>
            </a:pPr>
            <a:r>
              <a:rPr lang="en-US" sz="1550" b="1" dirty="0">
                <a:solidFill>
                  <a:srgbClr val="F5F0E8"/>
                </a:solidFill>
                <a:latin typeface="Calibri" pitchFamily="34" charset="0"/>
                <a:ea typeface="Calibri" pitchFamily="34" charset="-122"/>
                <a:cs typeface="Calibri" pitchFamily="34" charset="-120"/>
              </a:rPr>
              <a:t>+ AI Pipeline Live</a:t>
            </a:r>
            <a:endParaRPr lang="en-US" sz="1550" dirty="0"/>
          </a:p>
        </p:txBody>
      </p:sp>
      <p:sp>
        <p:nvSpPr>
          <p:cNvPr id="18" name="Text 16"/>
          <p:cNvSpPr/>
          <p:nvPr/>
        </p:nvSpPr>
        <p:spPr>
          <a:xfrm>
            <a:off x="640080" y="4114800"/>
            <a:ext cx="3703320" cy="640080"/>
          </a:xfrm>
          <a:prstGeom prst="rect">
            <a:avLst/>
          </a:prstGeom>
          <a:noFill/>
          <a:ln/>
        </p:spPr>
        <p:txBody>
          <a:bodyPr wrap="square" lIns="0" tIns="0" rIns="0" bIns="0" rtlCol="0" anchor="ctr"/>
          <a:lstStyle/>
          <a:p>
            <a:pPr indent="0" marL="0">
              <a:buNone/>
            </a:pPr>
            <a:r>
              <a:rPr lang="en-US" sz="1200" dirty="0">
                <a:solidFill>
                  <a:srgbClr val="E8DCC8"/>
                </a:solidFill>
                <a:latin typeface="Calibri" pitchFamily="34" charset="0"/>
                <a:ea typeface="Calibri" pitchFamily="34" charset="-122"/>
                <a:cs typeface="Calibri" pitchFamily="34" charset="-120"/>
              </a:rPr>
              <a:t>Transcription -&gt; Translation -&gt; Cultural Flags -&gt; Titles -&gt; People Tags</a:t>
            </a:r>
            <a:endParaRPr lang="en-US" sz="1200" dirty="0"/>
          </a:p>
        </p:txBody>
      </p:sp>
      <p:sp>
        <p:nvSpPr>
          <p:cNvPr id="19" name="Shape 17"/>
          <p:cNvSpPr/>
          <p:nvPr/>
        </p:nvSpPr>
        <p:spPr>
          <a:xfrm>
            <a:off x="4754880" y="3547872"/>
            <a:ext cx="4069080" cy="1280160"/>
          </a:xfrm>
          <a:prstGeom prst="rect">
            <a:avLst/>
          </a:prstGeom>
          <a:solidFill>
            <a:srgbClr val="1A1A2E"/>
          </a:solidFill>
          <a:ln w="12700">
            <a:solidFill>
              <a:srgbClr val="1A1A2E"/>
            </a:solidFill>
            <a:prstDash val="solid"/>
          </a:ln>
        </p:spPr>
      </p:sp>
      <p:sp>
        <p:nvSpPr>
          <p:cNvPr id="20" name="Shape 18"/>
          <p:cNvSpPr/>
          <p:nvPr/>
        </p:nvSpPr>
        <p:spPr>
          <a:xfrm>
            <a:off x="4754880" y="3547872"/>
            <a:ext cx="4069080" cy="64008"/>
          </a:xfrm>
          <a:prstGeom prst="rect">
            <a:avLst/>
          </a:prstGeom>
          <a:solidFill>
            <a:srgbClr val="B5693A"/>
          </a:solidFill>
          <a:ln w="12700">
            <a:solidFill>
              <a:srgbClr val="B5693A"/>
            </a:solidFill>
            <a:prstDash val="solid"/>
          </a:ln>
        </p:spPr>
      </p:sp>
      <p:sp>
        <p:nvSpPr>
          <p:cNvPr id="21" name="Text 19"/>
          <p:cNvSpPr/>
          <p:nvPr/>
        </p:nvSpPr>
        <p:spPr>
          <a:xfrm>
            <a:off x="4937760" y="3694176"/>
            <a:ext cx="3703320" cy="384048"/>
          </a:xfrm>
          <a:prstGeom prst="rect">
            <a:avLst/>
          </a:prstGeom>
          <a:noFill/>
          <a:ln/>
        </p:spPr>
        <p:txBody>
          <a:bodyPr wrap="square" lIns="0" tIns="0" rIns="0" bIns="0" rtlCol="0" anchor="ctr"/>
          <a:lstStyle/>
          <a:p>
            <a:pPr indent="0" marL="0">
              <a:buNone/>
            </a:pPr>
            <a:r>
              <a:rPr lang="en-US" sz="1550" b="1" dirty="0">
                <a:solidFill>
                  <a:srgbClr val="F5F0E8"/>
                </a:solidFill>
                <a:latin typeface="Calibri" pitchFamily="34" charset="0"/>
                <a:ea typeface="Calibri" pitchFamily="34" charset="-122"/>
                <a:cs typeface="Calibri" pitchFamily="34" charset="-120"/>
              </a:rPr>
              <a:t>+ GDPR Compliant</a:t>
            </a:r>
            <a:endParaRPr lang="en-US" sz="1550" dirty="0"/>
          </a:p>
        </p:txBody>
      </p:sp>
      <p:sp>
        <p:nvSpPr>
          <p:cNvPr id="22" name="Text 20"/>
          <p:cNvSpPr/>
          <p:nvPr/>
        </p:nvSpPr>
        <p:spPr>
          <a:xfrm>
            <a:off x="4937760" y="4114800"/>
            <a:ext cx="3703320" cy="640080"/>
          </a:xfrm>
          <a:prstGeom prst="rect">
            <a:avLst/>
          </a:prstGeom>
          <a:noFill/>
          <a:ln/>
        </p:spPr>
        <p:txBody>
          <a:bodyPr wrap="square" lIns="0" tIns="0" rIns="0" bIns="0" rtlCol="0" anchor="ctr"/>
          <a:lstStyle/>
          <a:p>
            <a:pPr indent="0" marL="0">
              <a:buNone/>
            </a:pPr>
            <a:r>
              <a:rPr lang="en-US" sz="1200" dirty="0">
                <a:solidFill>
                  <a:srgbClr val="E8DCC8"/>
                </a:solidFill>
                <a:latin typeface="Calibri" pitchFamily="34" charset="0"/>
                <a:ea typeface="Calibri" pitchFamily="34" charset="-122"/>
                <a:cs typeface="Calibri" pitchFamily="34" charset="-120"/>
              </a:rPr>
              <a:t>Consent logging, deletion rights, and full data governance in place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5693A"/>
          </a:solidFill>
          <a:ln w="12700">
            <a:solidFill>
              <a:srgbClr val="B5693A"/>
            </a:solidFill>
            <a:prstDash val="solid"/>
          </a:ln>
        </p:spPr>
      </p:sp>
      <p:sp>
        <p:nvSpPr>
          <p:cNvPr id="3" name="Text 1"/>
          <p:cNvSpPr/>
          <p:nvPr/>
        </p:nvSpPr>
        <p:spPr>
          <a:xfrm>
            <a:off x="365760" y="256032"/>
            <a:ext cx="7315200" cy="320040"/>
          </a:xfrm>
          <a:prstGeom prst="rect">
            <a:avLst/>
          </a:prstGeom>
          <a:noFill/>
          <a:ln/>
        </p:spPr>
        <p:txBody>
          <a:bodyPr wrap="square" lIns="0" tIns="0" rIns="0" bIns="0" rtlCol="0" anchor="ctr"/>
          <a:lstStyle/>
          <a:p>
            <a:pPr indent="0" marL="0">
              <a:buNone/>
            </a:pPr>
            <a:r>
              <a:rPr lang="en-US" sz="1100" b="1" spc="400" kern="0" dirty="0">
                <a:solidFill>
                  <a:srgbClr val="1A1A2E"/>
                </a:solidFill>
                <a:latin typeface="Calibri" pitchFamily="34" charset="0"/>
                <a:ea typeface="Calibri" pitchFamily="34" charset="-122"/>
                <a:cs typeface="Calibri" pitchFamily="34" charset="-120"/>
              </a:rPr>
              <a:t>THE BUSINESS</a:t>
            </a:r>
            <a:endParaRPr lang="en-US" sz="1100" dirty="0"/>
          </a:p>
        </p:txBody>
      </p:sp>
      <p:sp>
        <p:nvSpPr>
          <p:cNvPr id="4" name="Text 2"/>
          <p:cNvSpPr/>
          <p:nvPr/>
        </p:nvSpPr>
        <p:spPr>
          <a:xfrm>
            <a:off x="365760" y="621792"/>
            <a:ext cx="8503920" cy="1005840"/>
          </a:xfrm>
          <a:prstGeom prst="rect">
            <a:avLst/>
          </a:prstGeom>
          <a:noFill/>
          <a:ln/>
        </p:spPr>
        <p:txBody>
          <a:bodyPr wrap="square" lIns="0" tIns="0" rIns="0" bIns="0" rtlCol="0" anchor="ctr"/>
          <a:lstStyle/>
          <a:p>
            <a:pPr indent="0" marL="0">
              <a:buNone/>
            </a:pPr>
            <a:r>
              <a:rPr lang="en-US" sz="4000" b="1" dirty="0">
                <a:solidFill>
                  <a:srgbClr val="1A1A2E"/>
                </a:solidFill>
                <a:latin typeface="Georgia" pitchFamily="34" charset="0"/>
                <a:ea typeface="Georgia" pitchFamily="34" charset="-122"/>
                <a:cs typeface="Georgia" pitchFamily="34" charset="-120"/>
              </a:rPr>
              <a:t>Own it forever. Pay once.</a:t>
            </a:r>
            <a:endParaRPr lang="en-US" sz="4000" dirty="0"/>
          </a:p>
        </p:txBody>
      </p:sp>
      <p:sp>
        <p:nvSpPr>
          <p:cNvPr id="5" name="Text 3"/>
          <p:cNvSpPr/>
          <p:nvPr/>
        </p:nvSpPr>
        <p:spPr>
          <a:xfrm>
            <a:off x="365760" y="1664208"/>
            <a:ext cx="8503920" cy="384048"/>
          </a:xfrm>
          <a:prstGeom prst="rect">
            <a:avLst/>
          </a:prstGeom>
          <a:noFill/>
          <a:ln/>
        </p:spPr>
        <p:txBody>
          <a:bodyPr wrap="square" lIns="0" tIns="0" rIns="0" bIns="0" rtlCol="0" anchor="ctr"/>
          <a:lstStyle/>
          <a:p>
            <a:pPr indent="0" marL="0">
              <a:buNone/>
            </a:pPr>
            <a:r>
              <a:rPr lang="en-US" sz="1400" i="1" dirty="0">
                <a:solidFill>
                  <a:srgbClr val="1A1A2E"/>
                </a:solidFill>
                <a:latin typeface="Calibri" pitchFamily="34" charset="0"/>
                <a:ea typeface="Calibri" pitchFamily="34" charset="-122"/>
                <a:cs typeface="Calibri" pitchFamily="34" charset="-120"/>
              </a:rPr>
              <a:t>No subscriptions. No lock-in. Families own their book -- permanently.</a:t>
            </a:r>
            <a:endParaRPr lang="en-US" sz="1400" dirty="0"/>
          </a:p>
        </p:txBody>
      </p:sp>
      <p:sp>
        <p:nvSpPr>
          <p:cNvPr id="6" name="Shape 4"/>
          <p:cNvSpPr/>
          <p:nvPr/>
        </p:nvSpPr>
        <p:spPr>
          <a:xfrm>
            <a:off x="365760" y="2194560"/>
            <a:ext cx="3749040" cy="2651760"/>
          </a:xfrm>
          <a:prstGeom prst="rect">
            <a:avLst/>
          </a:prstGeom>
          <a:solidFill>
            <a:srgbClr val="E8DCC8"/>
          </a:solidFill>
          <a:ln w="12700">
            <a:solidFill>
              <a:srgbClr val="E8DCC8"/>
            </a:solidFill>
            <a:prstDash val="solid"/>
          </a:ln>
        </p:spPr>
      </p:sp>
      <p:sp>
        <p:nvSpPr>
          <p:cNvPr id="7" name="Shape 5"/>
          <p:cNvSpPr/>
          <p:nvPr/>
        </p:nvSpPr>
        <p:spPr>
          <a:xfrm>
            <a:off x="365760" y="2194560"/>
            <a:ext cx="3749040" cy="64008"/>
          </a:xfrm>
          <a:prstGeom prst="rect">
            <a:avLst/>
          </a:prstGeom>
          <a:solidFill>
            <a:srgbClr val="B5693A"/>
          </a:solidFill>
          <a:ln w="12700">
            <a:solidFill>
              <a:srgbClr val="B5693A"/>
            </a:solidFill>
            <a:prstDash val="solid"/>
          </a:ln>
        </p:spPr>
      </p:sp>
      <p:sp>
        <p:nvSpPr>
          <p:cNvPr id="8" name="Text 6"/>
          <p:cNvSpPr/>
          <p:nvPr/>
        </p:nvSpPr>
        <p:spPr>
          <a:xfrm>
            <a:off x="548640" y="2340864"/>
            <a:ext cx="3383280" cy="384048"/>
          </a:xfrm>
          <a:prstGeom prst="rect">
            <a:avLst/>
          </a:prstGeom>
          <a:noFill/>
          <a:ln/>
        </p:spPr>
        <p:txBody>
          <a:bodyPr wrap="square" lIns="0" tIns="0" rIns="0" bIns="0" rtlCol="0" anchor="ctr"/>
          <a:lstStyle/>
          <a:p>
            <a:pPr indent="0" marL="0">
              <a:buNone/>
            </a:pPr>
            <a:r>
              <a:rPr lang="en-US" sz="1600" b="1" dirty="0">
                <a:solidFill>
                  <a:srgbClr val="1A1A2E"/>
                </a:solidFill>
                <a:latin typeface="Calibri" pitchFamily="34" charset="0"/>
                <a:ea typeface="Calibri" pitchFamily="34" charset="-122"/>
                <a:cs typeface="Calibri" pitchFamily="34" charset="-120"/>
              </a:rPr>
              <a:t>Family Book</a:t>
            </a:r>
            <a:endParaRPr lang="en-US" sz="1600" dirty="0"/>
          </a:p>
        </p:txBody>
      </p:sp>
      <p:sp>
        <p:nvSpPr>
          <p:cNvPr id="9" name="Text 7"/>
          <p:cNvSpPr/>
          <p:nvPr/>
        </p:nvSpPr>
        <p:spPr>
          <a:xfrm>
            <a:off x="548640" y="2715768"/>
            <a:ext cx="3383280" cy="841248"/>
          </a:xfrm>
          <a:prstGeom prst="rect">
            <a:avLst/>
          </a:prstGeom>
          <a:noFill/>
          <a:ln/>
        </p:spPr>
        <p:txBody>
          <a:bodyPr wrap="square" lIns="0" tIns="0" rIns="0" bIns="0" rtlCol="0" anchor="ctr"/>
          <a:lstStyle/>
          <a:p>
            <a:pPr indent="0" marL="0">
              <a:buNone/>
            </a:pPr>
            <a:r>
              <a:rPr lang="en-US" sz="6000" b="1" dirty="0">
                <a:solidFill>
                  <a:srgbClr val="B5693A"/>
                </a:solidFill>
                <a:latin typeface="Georgia" pitchFamily="34" charset="0"/>
                <a:ea typeface="Georgia" pitchFamily="34" charset="-122"/>
                <a:cs typeface="Georgia" pitchFamily="34" charset="-120"/>
              </a:rPr>
              <a:t>$89</a:t>
            </a:r>
            <a:endParaRPr lang="en-US" sz="6000" dirty="0"/>
          </a:p>
        </p:txBody>
      </p:sp>
      <p:sp>
        <p:nvSpPr>
          <p:cNvPr id="10" name="Text 8"/>
          <p:cNvSpPr/>
          <p:nvPr/>
        </p:nvSpPr>
        <p:spPr>
          <a:xfrm>
            <a:off x="548640" y="3566160"/>
            <a:ext cx="3383280" cy="347472"/>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one-time  |  includes 10 story credits</a:t>
            </a:r>
            <a:endParaRPr lang="en-US" sz="1150" dirty="0"/>
          </a:p>
        </p:txBody>
      </p:sp>
      <p:sp>
        <p:nvSpPr>
          <p:cNvPr id="11" name="Text 9"/>
          <p:cNvSpPr/>
          <p:nvPr/>
        </p:nvSpPr>
        <p:spPr>
          <a:xfrm>
            <a:off x="548640" y="3950208"/>
            <a:ext cx="3383280" cy="658368"/>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Unlimited Keepers &amp; family members</a:t>
            </a: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Lifetime access  |  PDF book export</a:t>
            </a:r>
            <a:endParaRPr lang="en-US" sz="1150" dirty="0"/>
          </a:p>
        </p:txBody>
      </p:sp>
      <p:sp>
        <p:nvSpPr>
          <p:cNvPr id="12" name="Text 10"/>
          <p:cNvSpPr/>
          <p:nvPr/>
        </p:nvSpPr>
        <p:spPr>
          <a:xfrm>
            <a:off x="4434840" y="2176272"/>
            <a:ext cx="4480560" cy="384048"/>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Story Credit Packs</a:t>
            </a:r>
            <a:endParaRPr lang="en-US" sz="1300" dirty="0"/>
          </a:p>
        </p:txBody>
      </p:sp>
      <p:sp>
        <p:nvSpPr>
          <p:cNvPr id="13" name="Shape 11"/>
          <p:cNvSpPr/>
          <p:nvPr/>
        </p:nvSpPr>
        <p:spPr>
          <a:xfrm>
            <a:off x="4434840" y="2670048"/>
            <a:ext cx="4434840" cy="640080"/>
          </a:xfrm>
          <a:prstGeom prst="rect">
            <a:avLst/>
          </a:prstGeom>
          <a:solidFill>
            <a:srgbClr val="F5F0E8"/>
          </a:solidFill>
          <a:ln w="12700">
            <a:solidFill>
              <a:srgbClr val="E8DCC8"/>
            </a:solidFill>
            <a:prstDash val="solid"/>
          </a:ln>
        </p:spPr>
      </p:sp>
      <p:sp>
        <p:nvSpPr>
          <p:cNvPr id="14" name="Shape 12"/>
          <p:cNvSpPr/>
          <p:nvPr/>
        </p:nvSpPr>
        <p:spPr>
          <a:xfrm>
            <a:off x="4434840" y="2670048"/>
            <a:ext cx="82296" cy="640080"/>
          </a:xfrm>
          <a:prstGeom prst="rect">
            <a:avLst/>
          </a:prstGeom>
          <a:solidFill>
            <a:srgbClr val="1A1A2E"/>
          </a:solidFill>
          <a:ln w="12700">
            <a:solidFill>
              <a:srgbClr val="1A1A2E"/>
            </a:solidFill>
            <a:prstDash val="solid"/>
          </a:ln>
        </p:spPr>
      </p:sp>
      <p:sp>
        <p:nvSpPr>
          <p:cNvPr id="15" name="Text 13"/>
          <p:cNvSpPr/>
          <p:nvPr/>
        </p:nvSpPr>
        <p:spPr>
          <a:xfrm>
            <a:off x="4617720" y="2743200"/>
            <a:ext cx="2606040" cy="292608"/>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Starter  --  10 credits</a:t>
            </a:r>
            <a:endParaRPr lang="en-US" sz="1300" dirty="0"/>
          </a:p>
        </p:txBody>
      </p:sp>
      <p:sp>
        <p:nvSpPr>
          <p:cNvPr id="16" name="Text 14"/>
          <p:cNvSpPr/>
          <p:nvPr/>
        </p:nvSpPr>
        <p:spPr>
          <a:xfrm>
            <a:off x="4617720" y="3035808"/>
            <a:ext cx="2286000" cy="2286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$1.90 / story</a:t>
            </a:r>
            <a:endParaRPr lang="en-US" sz="1100" dirty="0"/>
          </a:p>
        </p:txBody>
      </p:sp>
      <p:sp>
        <p:nvSpPr>
          <p:cNvPr id="17" name="Text 15"/>
          <p:cNvSpPr/>
          <p:nvPr/>
        </p:nvSpPr>
        <p:spPr>
          <a:xfrm>
            <a:off x="7726680" y="2761488"/>
            <a:ext cx="1097280" cy="457200"/>
          </a:xfrm>
          <a:prstGeom prst="rect">
            <a:avLst/>
          </a:prstGeom>
          <a:noFill/>
          <a:ln/>
        </p:spPr>
        <p:txBody>
          <a:bodyPr wrap="square" lIns="0" tIns="0" rIns="0" bIns="0" rtlCol="0" anchor="ctr"/>
          <a:lstStyle/>
          <a:p>
            <a:pPr algn="r" indent="0" marL="0">
              <a:buNone/>
            </a:pPr>
            <a:r>
              <a:rPr lang="en-US" sz="2200" b="1" dirty="0">
                <a:solidFill>
                  <a:srgbClr val="1A1A2E"/>
                </a:solidFill>
                <a:latin typeface="Georgia" pitchFamily="34" charset="0"/>
                <a:ea typeface="Georgia" pitchFamily="34" charset="-122"/>
                <a:cs typeface="Georgia" pitchFamily="34" charset="-120"/>
              </a:rPr>
              <a:t>$19</a:t>
            </a:r>
            <a:endParaRPr lang="en-US" sz="2200" dirty="0"/>
          </a:p>
        </p:txBody>
      </p:sp>
      <p:sp>
        <p:nvSpPr>
          <p:cNvPr id="18" name="Shape 16"/>
          <p:cNvSpPr/>
          <p:nvPr/>
        </p:nvSpPr>
        <p:spPr>
          <a:xfrm>
            <a:off x="4434840" y="3419856"/>
            <a:ext cx="4434840" cy="640080"/>
          </a:xfrm>
          <a:prstGeom prst="rect">
            <a:avLst/>
          </a:prstGeom>
          <a:solidFill>
            <a:srgbClr val="F5F0E8"/>
          </a:solidFill>
          <a:ln w="12700">
            <a:solidFill>
              <a:srgbClr val="E8DCC8"/>
            </a:solidFill>
            <a:prstDash val="solid"/>
          </a:ln>
        </p:spPr>
      </p:sp>
      <p:sp>
        <p:nvSpPr>
          <p:cNvPr id="19" name="Shape 17"/>
          <p:cNvSpPr/>
          <p:nvPr/>
        </p:nvSpPr>
        <p:spPr>
          <a:xfrm>
            <a:off x="4434840" y="3419856"/>
            <a:ext cx="82296" cy="640080"/>
          </a:xfrm>
          <a:prstGeom prst="rect">
            <a:avLst/>
          </a:prstGeom>
          <a:solidFill>
            <a:srgbClr val="1A1A2E"/>
          </a:solidFill>
          <a:ln w="12700">
            <a:solidFill>
              <a:srgbClr val="1A1A2E"/>
            </a:solidFill>
            <a:prstDash val="solid"/>
          </a:ln>
        </p:spPr>
      </p:sp>
      <p:sp>
        <p:nvSpPr>
          <p:cNvPr id="20" name="Text 18"/>
          <p:cNvSpPr/>
          <p:nvPr/>
        </p:nvSpPr>
        <p:spPr>
          <a:xfrm>
            <a:off x="4617720" y="3493008"/>
            <a:ext cx="2606040" cy="292608"/>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Family  --  30 credits</a:t>
            </a:r>
            <a:endParaRPr lang="en-US" sz="1300" dirty="0"/>
          </a:p>
        </p:txBody>
      </p:sp>
      <p:sp>
        <p:nvSpPr>
          <p:cNvPr id="21" name="Text 19"/>
          <p:cNvSpPr/>
          <p:nvPr/>
        </p:nvSpPr>
        <p:spPr>
          <a:xfrm>
            <a:off x="4617720" y="3785616"/>
            <a:ext cx="2286000" cy="2286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$1.63 / story</a:t>
            </a:r>
            <a:endParaRPr lang="en-US" sz="1100" dirty="0"/>
          </a:p>
        </p:txBody>
      </p:sp>
      <p:sp>
        <p:nvSpPr>
          <p:cNvPr id="22" name="Text 20"/>
          <p:cNvSpPr/>
          <p:nvPr/>
        </p:nvSpPr>
        <p:spPr>
          <a:xfrm>
            <a:off x="7726680" y="3511296"/>
            <a:ext cx="1097280" cy="457200"/>
          </a:xfrm>
          <a:prstGeom prst="rect">
            <a:avLst/>
          </a:prstGeom>
          <a:noFill/>
          <a:ln/>
        </p:spPr>
        <p:txBody>
          <a:bodyPr wrap="square" lIns="0" tIns="0" rIns="0" bIns="0" rtlCol="0" anchor="ctr"/>
          <a:lstStyle/>
          <a:p>
            <a:pPr algn="r" indent="0" marL="0">
              <a:buNone/>
            </a:pPr>
            <a:r>
              <a:rPr lang="en-US" sz="2200" b="1" dirty="0">
                <a:solidFill>
                  <a:srgbClr val="1A1A2E"/>
                </a:solidFill>
                <a:latin typeface="Georgia" pitchFamily="34" charset="0"/>
                <a:ea typeface="Georgia" pitchFamily="34" charset="-122"/>
                <a:cs typeface="Georgia" pitchFamily="34" charset="-120"/>
              </a:rPr>
              <a:t>$49</a:t>
            </a:r>
            <a:endParaRPr lang="en-US" sz="2200" dirty="0"/>
          </a:p>
        </p:txBody>
      </p:sp>
      <p:sp>
        <p:nvSpPr>
          <p:cNvPr id="23" name="Shape 21"/>
          <p:cNvSpPr/>
          <p:nvPr/>
        </p:nvSpPr>
        <p:spPr>
          <a:xfrm>
            <a:off x="4434840" y="4169664"/>
            <a:ext cx="4434840" cy="640080"/>
          </a:xfrm>
          <a:prstGeom prst="rect">
            <a:avLst/>
          </a:prstGeom>
          <a:solidFill>
            <a:srgbClr val="F5F0E8"/>
          </a:solidFill>
          <a:ln w="12700">
            <a:solidFill>
              <a:srgbClr val="E8DCC8"/>
            </a:solidFill>
            <a:prstDash val="solid"/>
          </a:ln>
        </p:spPr>
      </p:sp>
      <p:sp>
        <p:nvSpPr>
          <p:cNvPr id="24" name="Shape 22"/>
          <p:cNvSpPr/>
          <p:nvPr/>
        </p:nvSpPr>
        <p:spPr>
          <a:xfrm>
            <a:off x="4434840" y="4169664"/>
            <a:ext cx="82296" cy="640080"/>
          </a:xfrm>
          <a:prstGeom prst="rect">
            <a:avLst/>
          </a:prstGeom>
          <a:solidFill>
            <a:srgbClr val="1A1A2E"/>
          </a:solidFill>
          <a:ln w="12700">
            <a:solidFill>
              <a:srgbClr val="1A1A2E"/>
            </a:solidFill>
            <a:prstDash val="solid"/>
          </a:ln>
        </p:spPr>
      </p:sp>
      <p:sp>
        <p:nvSpPr>
          <p:cNvPr id="25" name="Text 23"/>
          <p:cNvSpPr/>
          <p:nvPr/>
        </p:nvSpPr>
        <p:spPr>
          <a:xfrm>
            <a:off x="4617720" y="4242816"/>
            <a:ext cx="2606040" cy="292608"/>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Archive  --  100 credits</a:t>
            </a:r>
            <a:endParaRPr lang="en-US" sz="1300" dirty="0"/>
          </a:p>
        </p:txBody>
      </p:sp>
      <p:sp>
        <p:nvSpPr>
          <p:cNvPr id="26" name="Text 24"/>
          <p:cNvSpPr/>
          <p:nvPr/>
        </p:nvSpPr>
        <p:spPr>
          <a:xfrm>
            <a:off x="4617720" y="4535424"/>
            <a:ext cx="2286000" cy="2286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$1.29 / story</a:t>
            </a:r>
            <a:endParaRPr lang="en-US" sz="1100" dirty="0"/>
          </a:p>
        </p:txBody>
      </p:sp>
      <p:sp>
        <p:nvSpPr>
          <p:cNvPr id="27" name="Text 25"/>
          <p:cNvSpPr/>
          <p:nvPr/>
        </p:nvSpPr>
        <p:spPr>
          <a:xfrm>
            <a:off x="7726680" y="4261104"/>
            <a:ext cx="1097280" cy="457200"/>
          </a:xfrm>
          <a:prstGeom prst="rect">
            <a:avLst/>
          </a:prstGeom>
          <a:noFill/>
          <a:ln/>
        </p:spPr>
        <p:txBody>
          <a:bodyPr wrap="square" lIns="0" tIns="0" rIns="0" bIns="0" rtlCol="0" anchor="ctr"/>
          <a:lstStyle/>
          <a:p>
            <a:pPr algn="r" indent="0" marL="0">
              <a:buNone/>
            </a:pPr>
            <a:r>
              <a:rPr lang="en-US" sz="2200" b="1" dirty="0">
                <a:solidFill>
                  <a:srgbClr val="1A1A2E"/>
                </a:solidFill>
                <a:latin typeface="Georgia" pitchFamily="34" charset="0"/>
                <a:ea typeface="Georgia" pitchFamily="34" charset="-122"/>
                <a:cs typeface="Georgia" pitchFamily="34" charset="-120"/>
              </a:rPr>
              <a:t>$129</a:t>
            </a:r>
            <a:endParaRPr lang="en-US" sz="2200" dirty="0"/>
          </a:p>
        </p:txBody>
      </p:sp>
      <p:sp>
        <p:nvSpPr>
          <p:cNvPr id="28" name="Shape 26"/>
          <p:cNvSpPr/>
          <p:nvPr/>
        </p:nvSpPr>
        <p:spPr>
          <a:xfrm>
            <a:off x="4434840" y="4736592"/>
            <a:ext cx="4434840" cy="54864"/>
          </a:xfrm>
          <a:prstGeom prst="rect">
            <a:avLst/>
          </a:prstGeom>
          <a:solidFill>
            <a:srgbClr val="E8DCC8"/>
          </a:solidFill>
          <a:ln w="12700">
            <a:solidFill>
              <a:srgbClr val="E8DCC8"/>
            </a:solidFill>
            <a:prstDash val="solid"/>
          </a:ln>
        </p:spPr>
      </p:sp>
      <p:sp>
        <p:nvSpPr>
          <p:cNvPr id="29" name="Text 27"/>
          <p:cNvSpPr/>
          <p:nvPr/>
        </p:nvSpPr>
        <p:spPr>
          <a:xfrm>
            <a:off x="4434840" y="4809744"/>
            <a:ext cx="4434840" cy="256032"/>
          </a:xfrm>
          <a:prstGeom prst="rect">
            <a:avLst/>
          </a:prstGeom>
          <a:noFill/>
          <a:ln/>
        </p:spPr>
        <p:txBody>
          <a:bodyPr wrap="square" lIns="0" tIns="0" rIns="0" bIns="0" rtlCol="0" anchor="ctr"/>
          <a:lstStyle/>
          <a:p>
            <a:pPr algn="ctr" indent="0" marL="0">
              <a:buNone/>
            </a:pPr>
            <a:r>
              <a:rPr lang="en-US" sz="1000" i="1" dirty="0">
                <a:solidFill>
                  <a:srgbClr val="1A1A2E"/>
                </a:solidFill>
                <a:latin typeface="Calibri" pitchFamily="34" charset="0"/>
                <a:ea typeface="Calibri" pitchFamily="34" charset="-122"/>
                <a:cs typeface="Calibri" pitchFamily="34" charset="-120"/>
              </a:rPr>
              <a:t>AI processing cost per story: $0.30-0.50  |  Revenue per credit: $1.29-1.90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DCC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5693A"/>
          </a:solidFill>
          <a:ln w="12700">
            <a:solidFill>
              <a:srgbClr val="B5693A"/>
            </a:solidFill>
            <a:prstDash val="solid"/>
          </a:ln>
        </p:spPr>
      </p:sp>
      <p:sp>
        <p:nvSpPr>
          <p:cNvPr id="3" name="Shape 1"/>
          <p:cNvSpPr/>
          <p:nvPr/>
        </p:nvSpPr>
        <p:spPr>
          <a:xfrm>
            <a:off x="0" y="5047488"/>
            <a:ext cx="9144000" cy="82296"/>
          </a:xfrm>
          <a:prstGeom prst="rect">
            <a:avLst/>
          </a:prstGeom>
          <a:solidFill>
            <a:srgbClr val="1A1A2E"/>
          </a:solidFill>
          <a:ln w="12700">
            <a:solidFill>
              <a:srgbClr val="1A1A2E"/>
            </a:solidFill>
            <a:prstDash val="solid"/>
          </a:ln>
        </p:spPr>
      </p:sp>
      <p:sp>
        <p:nvSpPr>
          <p:cNvPr id="4" name="Text 2"/>
          <p:cNvSpPr/>
          <p:nvPr/>
        </p:nvSpPr>
        <p:spPr>
          <a:xfrm>
            <a:off x="594360" y="228600"/>
            <a:ext cx="7315200" cy="320040"/>
          </a:xfrm>
          <a:prstGeom prst="rect">
            <a:avLst/>
          </a:prstGeom>
          <a:noFill/>
          <a:ln/>
        </p:spPr>
        <p:txBody>
          <a:bodyPr wrap="square" lIns="0" tIns="0" rIns="0" bIns="0" rtlCol="0" anchor="ctr"/>
          <a:lstStyle/>
          <a:p>
            <a:pPr indent="0" marL="0">
              <a:buNone/>
            </a:pPr>
            <a:r>
              <a:rPr lang="en-US" sz="1100" b="1" spc="400" kern="0" dirty="0">
                <a:solidFill>
                  <a:srgbClr val="B5693A"/>
                </a:solidFill>
                <a:latin typeface="Calibri" pitchFamily="34" charset="0"/>
                <a:ea typeface="Calibri" pitchFamily="34" charset="-122"/>
                <a:cs typeface="Calibri" pitchFamily="34" charset="-120"/>
              </a:rPr>
              <a:t>THE MARKET</a:t>
            </a:r>
            <a:endParaRPr lang="en-US" sz="1100" dirty="0"/>
          </a:p>
        </p:txBody>
      </p:sp>
      <p:sp>
        <p:nvSpPr>
          <p:cNvPr id="5" name="Text 3"/>
          <p:cNvSpPr/>
          <p:nvPr/>
        </p:nvSpPr>
        <p:spPr>
          <a:xfrm>
            <a:off x="594360" y="621792"/>
            <a:ext cx="8046720" cy="1417320"/>
          </a:xfrm>
          <a:prstGeom prst="rect">
            <a:avLst/>
          </a:prstGeom>
          <a:noFill/>
          <a:ln/>
        </p:spPr>
        <p:txBody>
          <a:bodyPr wrap="square" lIns="0" tIns="0" rIns="0" bIns="0" rtlCol="0" anchor="ctr"/>
          <a:lstStyle/>
          <a:p>
            <a:pPr indent="0" marL="0">
              <a:buNone/>
            </a:pPr>
            <a:r>
              <a:rPr lang="en-US" sz="4000" b="1" dirty="0">
                <a:solidFill>
                  <a:srgbClr val="1A1A2E"/>
                </a:solidFill>
                <a:latin typeface="Georgia" pitchFamily="34" charset="0"/>
                <a:ea typeface="Georgia" pitchFamily="34" charset="-122"/>
                <a:cs typeface="Georgia" pitchFamily="34" charset="-120"/>
              </a:rPr>
              <a:t>Massive market.</a:t>
            </a:r>
            <a:endParaRPr lang="en-US" sz="4000" dirty="0"/>
          </a:p>
          <a:p>
            <a:pPr indent="0" marL="0">
              <a:buNone/>
            </a:pPr>
            <a:r>
              <a:rPr lang="en-US" sz="4000" b="1" dirty="0">
                <a:solidFill>
                  <a:srgbClr val="1A1A2E"/>
                </a:solidFill>
                <a:latin typeface="Georgia" pitchFamily="34" charset="0"/>
                <a:ea typeface="Georgia" pitchFamily="34" charset="-122"/>
                <a:cs typeface="Georgia" pitchFamily="34" charset="-120"/>
              </a:rPr>
              <a:t>Completely underserved.</a:t>
            </a:r>
            <a:endParaRPr lang="en-US" sz="4000" dirty="0"/>
          </a:p>
        </p:txBody>
      </p:sp>
      <p:sp>
        <p:nvSpPr>
          <p:cNvPr id="6" name="Shape 4"/>
          <p:cNvSpPr/>
          <p:nvPr/>
        </p:nvSpPr>
        <p:spPr>
          <a:xfrm>
            <a:off x="457200" y="2194560"/>
            <a:ext cx="2651760" cy="2468880"/>
          </a:xfrm>
          <a:prstGeom prst="rect">
            <a:avLst/>
          </a:prstGeom>
          <a:solidFill>
            <a:srgbClr val="1A1A2E"/>
          </a:solidFill>
          <a:ln w="12700">
            <a:solidFill>
              <a:srgbClr val="1A1A2E"/>
            </a:solidFill>
            <a:prstDash val="solid"/>
          </a:ln>
        </p:spPr>
      </p:sp>
      <p:sp>
        <p:nvSpPr>
          <p:cNvPr id="7" name="Shape 5"/>
          <p:cNvSpPr/>
          <p:nvPr/>
        </p:nvSpPr>
        <p:spPr>
          <a:xfrm>
            <a:off x="457200" y="2194560"/>
            <a:ext cx="2651760" cy="64008"/>
          </a:xfrm>
          <a:prstGeom prst="rect">
            <a:avLst/>
          </a:prstGeom>
          <a:solidFill>
            <a:srgbClr val="B5693A"/>
          </a:solidFill>
          <a:ln w="12700">
            <a:solidFill>
              <a:srgbClr val="B5693A"/>
            </a:solidFill>
            <a:prstDash val="solid"/>
          </a:ln>
        </p:spPr>
      </p:sp>
      <p:sp>
        <p:nvSpPr>
          <p:cNvPr id="8" name="Text 6"/>
          <p:cNvSpPr/>
          <p:nvPr/>
        </p:nvSpPr>
        <p:spPr>
          <a:xfrm>
            <a:off x="594360" y="2304288"/>
            <a:ext cx="2377440" cy="914400"/>
          </a:xfrm>
          <a:prstGeom prst="rect">
            <a:avLst/>
          </a:prstGeom>
          <a:noFill/>
          <a:ln/>
        </p:spPr>
        <p:txBody>
          <a:bodyPr wrap="square" lIns="0" tIns="0" rIns="0" bIns="0" rtlCol="0" anchor="ctr"/>
          <a:lstStyle/>
          <a:p>
            <a:pPr indent="0" marL="0">
              <a:buNone/>
            </a:pPr>
            <a:r>
              <a:rPr lang="en-US" sz="4400" b="1" dirty="0">
                <a:solidFill>
                  <a:srgbClr val="B5693A"/>
                </a:solidFill>
                <a:latin typeface="Georgia" pitchFamily="34" charset="0"/>
                <a:ea typeface="Georgia" pitchFamily="34" charset="-122"/>
                <a:cs typeface="Georgia" pitchFamily="34" charset="-120"/>
              </a:rPr>
              <a:t>280M+</a:t>
            </a:r>
            <a:endParaRPr lang="en-US" sz="4400" dirty="0"/>
          </a:p>
        </p:txBody>
      </p:sp>
      <p:sp>
        <p:nvSpPr>
          <p:cNvPr id="9" name="Text 7"/>
          <p:cNvSpPr/>
          <p:nvPr/>
        </p:nvSpPr>
        <p:spPr>
          <a:xfrm>
            <a:off x="594360" y="3255264"/>
            <a:ext cx="2377440" cy="1234440"/>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People living outside</a:t>
            </a:r>
            <a:endParaRPr lang="en-US" sz="1350" dirty="0"/>
          </a:p>
          <a:p>
            <a:pPr indent="0" marL="0">
              <a:buNone/>
            </a:pPr>
            <a:r>
              <a:rPr lang="en-US" sz="1350" dirty="0">
                <a:solidFill>
                  <a:srgbClr val="1A1A2E"/>
                </a:solidFill>
                <a:latin typeface="Calibri" pitchFamily="34" charset="0"/>
                <a:ea typeface="Calibri" pitchFamily="34" charset="-122"/>
                <a:cs typeface="Calibri" pitchFamily="34" charset="-120"/>
              </a:rPr>
              <a:t>their country of birth</a:t>
            </a:r>
            <a:endParaRPr lang="en-US" sz="1350" dirty="0"/>
          </a:p>
        </p:txBody>
      </p:sp>
      <p:sp>
        <p:nvSpPr>
          <p:cNvPr id="10" name="Shape 8"/>
          <p:cNvSpPr/>
          <p:nvPr/>
        </p:nvSpPr>
        <p:spPr>
          <a:xfrm>
            <a:off x="3291840" y="2194560"/>
            <a:ext cx="2651760" cy="2468880"/>
          </a:xfrm>
          <a:prstGeom prst="rect">
            <a:avLst/>
          </a:prstGeom>
          <a:solidFill>
            <a:srgbClr val="1A1A2E"/>
          </a:solidFill>
          <a:ln w="12700">
            <a:solidFill>
              <a:srgbClr val="1A1A2E"/>
            </a:solidFill>
            <a:prstDash val="solid"/>
          </a:ln>
        </p:spPr>
      </p:sp>
      <p:sp>
        <p:nvSpPr>
          <p:cNvPr id="11" name="Shape 9"/>
          <p:cNvSpPr/>
          <p:nvPr/>
        </p:nvSpPr>
        <p:spPr>
          <a:xfrm>
            <a:off x="3291840" y="2194560"/>
            <a:ext cx="2651760" cy="64008"/>
          </a:xfrm>
          <a:prstGeom prst="rect">
            <a:avLst/>
          </a:prstGeom>
          <a:solidFill>
            <a:srgbClr val="B5693A"/>
          </a:solidFill>
          <a:ln w="12700">
            <a:solidFill>
              <a:srgbClr val="B5693A"/>
            </a:solidFill>
            <a:prstDash val="solid"/>
          </a:ln>
        </p:spPr>
      </p:sp>
      <p:sp>
        <p:nvSpPr>
          <p:cNvPr id="12" name="Text 10"/>
          <p:cNvSpPr/>
          <p:nvPr/>
        </p:nvSpPr>
        <p:spPr>
          <a:xfrm>
            <a:off x="3429000" y="2304288"/>
            <a:ext cx="2377440" cy="914400"/>
          </a:xfrm>
          <a:prstGeom prst="rect">
            <a:avLst/>
          </a:prstGeom>
          <a:noFill/>
          <a:ln/>
        </p:spPr>
        <p:txBody>
          <a:bodyPr wrap="square" lIns="0" tIns="0" rIns="0" bIns="0" rtlCol="0" anchor="ctr"/>
          <a:lstStyle/>
          <a:p>
            <a:pPr indent="0" marL="0">
              <a:buNone/>
            </a:pPr>
            <a:r>
              <a:rPr lang="en-US" sz="4400" b="1" dirty="0">
                <a:solidFill>
                  <a:srgbClr val="B5693A"/>
                </a:solidFill>
                <a:latin typeface="Georgia" pitchFamily="34" charset="0"/>
                <a:ea typeface="Georgia" pitchFamily="34" charset="-122"/>
                <a:cs typeface="Georgia" pitchFamily="34" charset="-120"/>
              </a:rPr>
              <a:t>$89</a:t>
            </a:r>
            <a:endParaRPr lang="en-US" sz="4400" dirty="0"/>
          </a:p>
        </p:txBody>
      </p:sp>
      <p:sp>
        <p:nvSpPr>
          <p:cNvPr id="13" name="Text 11"/>
          <p:cNvSpPr/>
          <p:nvPr/>
        </p:nvSpPr>
        <p:spPr>
          <a:xfrm>
            <a:off x="3429000" y="3255264"/>
            <a:ext cx="2377440" cy="1234440"/>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Day-one revenue</a:t>
            </a:r>
            <a:endParaRPr lang="en-US" sz="1350" dirty="0"/>
          </a:p>
          <a:p>
            <a:pPr indent="0" marL="0">
              <a:buNone/>
            </a:pPr>
            <a:r>
              <a:rPr lang="en-US" sz="1350" dirty="0">
                <a:solidFill>
                  <a:srgbClr val="1A1A2E"/>
                </a:solidFill>
                <a:latin typeface="Calibri" pitchFamily="34" charset="0"/>
                <a:ea typeface="Calibri" pitchFamily="34" charset="-122"/>
                <a:cs typeface="Calibri" pitchFamily="34" charset="-120"/>
              </a:rPr>
              <a:t>per family</a:t>
            </a:r>
            <a:endParaRPr lang="en-US" sz="1350" dirty="0"/>
          </a:p>
        </p:txBody>
      </p:sp>
      <p:sp>
        <p:nvSpPr>
          <p:cNvPr id="14" name="Shape 12"/>
          <p:cNvSpPr/>
          <p:nvPr/>
        </p:nvSpPr>
        <p:spPr>
          <a:xfrm>
            <a:off x="6126480" y="2194560"/>
            <a:ext cx="2651760" cy="2468880"/>
          </a:xfrm>
          <a:prstGeom prst="rect">
            <a:avLst/>
          </a:prstGeom>
          <a:solidFill>
            <a:srgbClr val="1A1A2E"/>
          </a:solidFill>
          <a:ln w="12700">
            <a:solidFill>
              <a:srgbClr val="1A1A2E"/>
            </a:solidFill>
            <a:prstDash val="solid"/>
          </a:ln>
        </p:spPr>
      </p:sp>
      <p:sp>
        <p:nvSpPr>
          <p:cNvPr id="15" name="Shape 13"/>
          <p:cNvSpPr/>
          <p:nvPr/>
        </p:nvSpPr>
        <p:spPr>
          <a:xfrm>
            <a:off x="6126480" y="2194560"/>
            <a:ext cx="2651760" cy="64008"/>
          </a:xfrm>
          <a:prstGeom prst="rect">
            <a:avLst/>
          </a:prstGeom>
          <a:solidFill>
            <a:srgbClr val="B5693A"/>
          </a:solidFill>
          <a:ln w="12700">
            <a:solidFill>
              <a:srgbClr val="B5693A"/>
            </a:solidFill>
            <a:prstDash val="solid"/>
          </a:ln>
        </p:spPr>
      </p:sp>
      <p:sp>
        <p:nvSpPr>
          <p:cNvPr id="16" name="Text 14"/>
          <p:cNvSpPr/>
          <p:nvPr/>
        </p:nvSpPr>
        <p:spPr>
          <a:xfrm>
            <a:off x="6263640" y="2304288"/>
            <a:ext cx="2377440" cy="914400"/>
          </a:xfrm>
          <a:prstGeom prst="rect">
            <a:avLst/>
          </a:prstGeom>
          <a:noFill/>
          <a:ln/>
        </p:spPr>
        <p:txBody>
          <a:bodyPr wrap="square" lIns="0" tIns="0" rIns="0" bIns="0" rtlCol="0" anchor="ctr"/>
          <a:lstStyle/>
          <a:p>
            <a:pPr indent="0" marL="0">
              <a:buNone/>
            </a:pPr>
            <a:r>
              <a:rPr lang="en-US" sz="4400" b="1" dirty="0">
                <a:solidFill>
                  <a:srgbClr val="B5693A"/>
                </a:solidFill>
                <a:latin typeface="Georgia" pitchFamily="34" charset="0"/>
                <a:ea typeface="Georgia" pitchFamily="34" charset="-122"/>
                <a:cs typeface="Georgia" pitchFamily="34" charset="-120"/>
              </a:rPr>
              <a:t>$120+</a:t>
            </a:r>
            <a:endParaRPr lang="en-US" sz="4400" dirty="0"/>
          </a:p>
        </p:txBody>
      </p:sp>
      <p:sp>
        <p:nvSpPr>
          <p:cNvPr id="17" name="Text 15"/>
          <p:cNvSpPr/>
          <p:nvPr/>
        </p:nvSpPr>
        <p:spPr>
          <a:xfrm>
            <a:off x="6263640" y="3255264"/>
            <a:ext cx="2377440" cy="1234440"/>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Target avg. revenue</a:t>
            </a:r>
            <a:endParaRPr lang="en-US" sz="1350" dirty="0"/>
          </a:p>
          <a:p>
            <a:pPr indent="0" marL="0">
              <a:buNone/>
            </a:pPr>
            <a:r>
              <a:rPr lang="en-US" sz="1350" dirty="0">
                <a:solidFill>
                  <a:srgbClr val="1A1A2E"/>
                </a:solidFill>
                <a:latin typeface="Calibri" pitchFamily="34" charset="0"/>
                <a:ea typeface="Calibri" pitchFamily="34" charset="-122"/>
                <a:cs typeface="Calibri" pitchFamily="34" charset="-120"/>
              </a:rPr>
              <a:t>per customer, year 1</a:t>
            </a:r>
            <a:endParaRPr lang="en-US" sz="1350" dirty="0"/>
          </a:p>
        </p:txBody>
      </p:sp>
      <p:sp>
        <p:nvSpPr>
          <p:cNvPr id="18" name="Text 16"/>
          <p:cNvSpPr/>
          <p:nvPr/>
        </p:nvSpPr>
        <p:spPr>
          <a:xfrm>
            <a:off x="594360" y="4754880"/>
            <a:ext cx="8046720" cy="292608"/>
          </a:xfrm>
          <a:prstGeom prst="rect">
            <a:avLst/>
          </a:prstGeom>
          <a:noFill/>
          <a:ln/>
        </p:spPr>
        <p:txBody>
          <a:bodyPr wrap="square" lIns="0" tIns="0" rIns="0" bIns="0" rtlCol="0" anchor="ctr"/>
          <a:lstStyle/>
          <a:p>
            <a:pPr algn="ctr" indent="0" marL="0">
              <a:buNone/>
            </a:pPr>
            <a:r>
              <a:rPr lang="en-US" sz="1250" i="1" dirty="0">
                <a:solidFill>
                  <a:srgbClr val="1A1A2E"/>
                </a:solidFill>
                <a:latin typeface="Calibri" pitchFamily="34" charset="0"/>
                <a:ea typeface="Calibri" pitchFamily="34" charset="-122"/>
                <a:cs typeface="Calibri" pitchFamily="34" charset="-120"/>
              </a:rPr>
              <a:t>Priority communities:  Cambodian  |  Vietnamese  |  Somali  |  Ukrainian  |  Arabic diaspora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1A2E"/>
          </a:solidFill>
          <a:ln w="12700">
            <a:solidFill>
              <a:srgbClr val="1A1A2E"/>
            </a:solidFill>
            <a:prstDash val="solid"/>
          </a:ln>
        </p:spPr>
      </p:sp>
      <p:sp>
        <p:nvSpPr>
          <p:cNvPr id="3" name="Text 1"/>
          <p:cNvSpPr/>
          <p:nvPr/>
        </p:nvSpPr>
        <p:spPr>
          <a:xfrm>
            <a:off x="365760" y="256032"/>
            <a:ext cx="7315200" cy="320040"/>
          </a:xfrm>
          <a:prstGeom prst="rect">
            <a:avLst/>
          </a:prstGeom>
          <a:noFill/>
          <a:ln/>
        </p:spPr>
        <p:txBody>
          <a:bodyPr wrap="square" lIns="0" tIns="0" rIns="0" bIns="0" rtlCol="0" anchor="ctr"/>
          <a:lstStyle/>
          <a:p>
            <a:pPr indent="0" marL="0">
              <a:buNone/>
            </a:pPr>
            <a:r>
              <a:rPr lang="en-US" sz="1100" b="1" spc="400" kern="0" dirty="0">
                <a:solidFill>
                  <a:srgbClr val="1A1A2E"/>
                </a:solidFill>
                <a:latin typeface="Calibri" pitchFamily="34" charset="0"/>
                <a:ea typeface="Calibri" pitchFamily="34" charset="-122"/>
                <a:cs typeface="Calibri" pitchFamily="34" charset="-120"/>
              </a:rPr>
              <a:t>THE ROADMAP</a:t>
            </a:r>
            <a:endParaRPr lang="en-US" sz="1100" dirty="0"/>
          </a:p>
        </p:txBody>
      </p:sp>
      <p:sp>
        <p:nvSpPr>
          <p:cNvPr id="4" name="Text 2"/>
          <p:cNvSpPr/>
          <p:nvPr/>
        </p:nvSpPr>
        <p:spPr>
          <a:xfrm>
            <a:off x="365760" y="621792"/>
            <a:ext cx="7772400" cy="658368"/>
          </a:xfrm>
          <a:prstGeom prst="rect">
            <a:avLst/>
          </a:prstGeom>
          <a:noFill/>
          <a:ln/>
        </p:spPr>
        <p:txBody>
          <a:bodyPr wrap="square" lIns="0" tIns="0" rIns="0" bIns="0" rtlCol="0" anchor="ctr"/>
          <a:lstStyle/>
          <a:p>
            <a:pPr indent="0" marL="0">
              <a:buNone/>
            </a:pPr>
            <a:r>
              <a:rPr lang="en-US" sz="3200" b="1" dirty="0">
                <a:solidFill>
                  <a:srgbClr val="1A1A2E"/>
                </a:solidFill>
                <a:latin typeface="Georgia" pitchFamily="34" charset="0"/>
                <a:ea typeface="Georgia" pitchFamily="34" charset="-122"/>
                <a:cs typeface="Georgia" pitchFamily="34" charset="-120"/>
              </a:rPr>
              <a:t>From one family to the world.</a:t>
            </a:r>
            <a:endParaRPr lang="en-US" sz="3200" dirty="0"/>
          </a:p>
        </p:txBody>
      </p:sp>
      <p:sp>
        <p:nvSpPr>
          <p:cNvPr id="5" name="Shape 3"/>
          <p:cNvSpPr/>
          <p:nvPr/>
        </p:nvSpPr>
        <p:spPr>
          <a:xfrm>
            <a:off x="457200" y="1719072"/>
            <a:ext cx="8321040" cy="45720"/>
          </a:xfrm>
          <a:prstGeom prst="rect">
            <a:avLst/>
          </a:prstGeom>
          <a:solidFill>
            <a:srgbClr val="E8DCC8"/>
          </a:solidFill>
          <a:ln w="12700">
            <a:solidFill>
              <a:srgbClr val="E8DCC8"/>
            </a:solidFill>
            <a:prstDash val="solid"/>
          </a:ln>
        </p:spPr>
      </p:sp>
      <p:sp>
        <p:nvSpPr>
          <p:cNvPr id="6" name="Shape 4"/>
          <p:cNvSpPr/>
          <p:nvPr/>
        </p:nvSpPr>
        <p:spPr>
          <a:xfrm>
            <a:off x="1106424" y="1627632"/>
            <a:ext cx="219456" cy="219456"/>
          </a:xfrm>
          <a:prstGeom prst="ellipse">
            <a:avLst/>
          </a:prstGeom>
          <a:solidFill>
            <a:srgbClr val="1A1A2E"/>
          </a:solidFill>
          <a:ln w="12700">
            <a:solidFill>
              <a:srgbClr val="1A1A2E"/>
            </a:solidFill>
            <a:prstDash val="solid"/>
          </a:ln>
        </p:spPr>
      </p:sp>
      <p:sp>
        <p:nvSpPr>
          <p:cNvPr id="7" name="Shape 5"/>
          <p:cNvSpPr/>
          <p:nvPr/>
        </p:nvSpPr>
        <p:spPr>
          <a:xfrm>
            <a:off x="320040" y="1874520"/>
            <a:ext cx="2084832" cy="3063240"/>
          </a:xfrm>
          <a:prstGeom prst="rect">
            <a:avLst/>
          </a:prstGeom>
          <a:solidFill>
            <a:srgbClr val="F5F0E8"/>
          </a:solidFill>
          <a:ln w="12700">
            <a:solidFill>
              <a:srgbClr val="F5F0E8"/>
            </a:solidFill>
            <a:prstDash val="solid"/>
          </a:ln>
          <a:effectLst>
            <a:outerShdw sx="100000" sy="100000" kx="0" ky="0" algn="bl" rotWithShape="0" blurRad="63500" dist="25400" dir="8100000">
              <a:srgbClr val="1A1A2E">
                <a:alpha val="10000"/>
              </a:srgbClr>
            </a:outerShdw>
          </a:effectLst>
        </p:spPr>
      </p:sp>
      <p:sp>
        <p:nvSpPr>
          <p:cNvPr id="8" name="Shape 6"/>
          <p:cNvSpPr/>
          <p:nvPr/>
        </p:nvSpPr>
        <p:spPr>
          <a:xfrm>
            <a:off x="320040" y="1874520"/>
            <a:ext cx="2084832" cy="457200"/>
          </a:xfrm>
          <a:prstGeom prst="rect">
            <a:avLst/>
          </a:prstGeom>
          <a:solidFill>
            <a:srgbClr val="1A1A2E"/>
          </a:solidFill>
          <a:ln w="12700">
            <a:solidFill>
              <a:srgbClr val="1A1A2E"/>
            </a:solidFill>
            <a:prstDash val="solid"/>
          </a:ln>
        </p:spPr>
      </p:sp>
      <p:sp>
        <p:nvSpPr>
          <p:cNvPr id="9" name="Text 7"/>
          <p:cNvSpPr/>
          <p:nvPr/>
        </p:nvSpPr>
        <p:spPr>
          <a:xfrm>
            <a:off x="411480" y="1920240"/>
            <a:ext cx="1920240" cy="365760"/>
          </a:xfrm>
          <a:prstGeom prst="rect">
            <a:avLst/>
          </a:prstGeom>
          <a:noFill/>
          <a:ln/>
        </p:spPr>
        <p:txBody>
          <a:bodyPr wrap="square" lIns="0" tIns="0" rIns="0" bIns="0" rtlCol="0" anchor="ctr"/>
          <a:lstStyle/>
          <a:p>
            <a:pPr indent="0" marL="0">
              <a:buNone/>
            </a:pPr>
            <a:r>
              <a:rPr lang="en-US" sz="1200" b="1" dirty="0">
                <a:solidFill>
                  <a:srgbClr val="F5F0E8"/>
                </a:solidFill>
                <a:latin typeface="Calibri" pitchFamily="34" charset="0"/>
                <a:ea typeface="Calibri" pitchFamily="34" charset="-122"/>
                <a:cs typeface="Calibri" pitchFamily="34" charset="-120"/>
              </a:rPr>
              <a:t>Phase 1  |  POC</a:t>
            </a:r>
            <a:endParaRPr lang="en-US" sz="1200" dirty="0"/>
          </a:p>
        </p:txBody>
      </p:sp>
      <p:sp>
        <p:nvSpPr>
          <p:cNvPr id="10" name="Shape 8"/>
          <p:cNvSpPr/>
          <p:nvPr/>
        </p:nvSpPr>
        <p:spPr>
          <a:xfrm>
            <a:off x="448056" y="2423160"/>
            <a:ext cx="1325880" cy="256032"/>
          </a:xfrm>
          <a:prstGeom prst="rect">
            <a:avLst/>
          </a:prstGeom>
          <a:solidFill>
            <a:srgbClr val="F5F0E8"/>
          </a:solidFill>
          <a:ln w="12700">
            <a:solidFill>
              <a:srgbClr val="F5F0E8"/>
            </a:solidFill>
            <a:prstDash val="solid"/>
          </a:ln>
        </p:spPr>
      </p:sp>
      <p:sp>
        <p:nvSpPr>
          <p:cNvPr id="11" name="Text 9"/>
          <p:cNvSpPr/>
          <p:nvPr/>
        </p:nvSpPr>
        <p:spPr>
          <a:xfrm>
            <a:off x="448056" y="2423160"/>
            <a:ext cx="1325880" cy="256032"/>
          </a:xfrm>
          <a:prstGeom prst="rect">
            <a:avLst/>
          </a:prstGeom>
          <a:noFill/>
          <a:ln/>
        </p:spPr>
        <p:txBody>
          <a:bodyPr wrap="square" lIns="0" tIns="0" rIns="0" bIns="0" rtlCol="0" anchor="ctr"/>
          <a:lstStyle/>
          <a:p>
            <a:pPr algn="ctr" indent="0" marL="0">
              <a:buNone/>
            </a:pPr>
            <a:r>
              <a:rPr lang="en-US" sz="900" b="1" dirty="0">
                <a:solidFill>
                  <a:srgbClr val="B5693A"/>
                </a:solidFill>
                <a:latin typeface="Calibri" pitchFamily="34" charset="0"/>
                <a:ea typeface="Calibri" pitchFamily="34" charset="-122"/>
                <a:cs typeface="Calibri" pitchFamily="34" charset="-120"/>
              </a:rPr>
              <a:t>COMPLETE</a:t>
            </a:r>
            <a:endParaRPr lang="en-US" sz="900" dirty="0"/>
          </a:p>
        </p:txBody>
      </p:sp>
      <p:sp>
        <p:nvSpPr>
          <p:cNvPr id="12" name="Text 10"/>
          <p:cNvSpPr/>
          <p:nvPr/>
        </p:nvSpPr>
        <p:spPr>
          <a:xfrm>
            <a:off x="411480" y="2770632"/>
            <a:ext cx="1920240" cy="256032"/>
          </a:xfrm>
          <a:prstGeom prst="rect">
            <a:avLst/>
          </a:prstGeom>
          <a:noFill/>
          <a:ln/>
        </p:spPr>
        <p:txBody>
          <a:bodyPr wrap="square" lIns="0" tIns="0" rIns="0" bIns="0" rtlCol="0" anchor="ctr"/>
          <a:lstStyle/>
          <a:p>
            <a:pPr indent="0" marL="0">
              <a:buNone/>
            </a:pPr>
            <a:r>
              <a:rPr lang="en-US" sz="1000" dirty="0">
                <a:solidFill>
                  <a:srgbClr val="E8DCC8"/>
                </a:solidFill>
                <a:latin typeface="Calibri" pitchFamily="34" charset="0"/>
                <a:ea typeface="Calibri" pitchFamily="34" charset="-122"/>
                <a:cs typeface="Calibri" pitchFamily="34" charset="-120"/>
              </a:rPr>
              <a:t>Jan - Jun 2026</a:t>
            </a:r>
            <a:endParaRPr lang="en-US" sz="1000" dirty="0"/>
          </a:p>
        </p:txBody>
      </p:sp>
      <p:sp>
        <p:nvSpPr>
          <p:cNvPr id="13" name="Text 11"/>
          <p:cNvSpPr/>
          <p:nvPr/>
        </p:nvSpPr>
        <p:spPr>
          <a:xfrm>
            <a:off x="411480" y="310896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Sea family prototype</a:t>
            </a:r>
            <a:endParaRPr lang="en-US" sz="1100" dirty="0"/>
          </a:p>
        </p:txBody>
      </p:sp>
      <p:sp>
        <p:nvSpPr>
          <p:cNvPr id="14" name="Text 12"/>
          <p:cNvSpPr/>
          <p:nvPr/>
        </p:nvSpPr>
        <p:spPr>
          <a:xfrm>
            <a:off x="411480" y="361188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4 core user flows</a:t>
            </a:r>
            <a:endParaRPr lang="en-US" sz="1100" dirty="0"/>
          </a:p>
        </p:txBody>
      </p:sp>
      <p:sp>
        <p:nvSpPr>
          <p:cNvPr id="15" name="Text 13"/>
          <p:cNvSpPr/>
          <p:nvPr/>
        </p:nvSpPr>
        <p:spPr>
          <a:xfrm>
            <a:off x="411480" y="411480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Full AI pipeline live</a:t>
            </a:r>
            <a:endParaRPr lang="en-US" sz="1100" dirty="0"/>
          </a:p>
        </p:txBody>
      </p:sp>
      <p:sp>
        <p:nvSpPr>
          <p:cNvPr id="16" name="Shape 14"/>
          <p:cNvSpPr/>
          <p:nvPr/>
        </p:nvSpPr>
        <p:spPr>
          <a:xfrm>
            <a:off x="3236976" y="1627632"/>
            <a:ext cx="219456" cy="219456"/>
          </a:xfrm>
          <a:prstGeom prst="ellipse">
            <a:avLst/>
          </a:prstGeom>
          <a:solidFill>
            <a:srgbClr val="1A1A2E"/>
          </a:solidFill>
          <a:ln w="12700">
            <a:solidFill>
              <a:srgbClr val="1A1A2E"/>
            </a:solidFill>
            <a:prstDash val="solid"/>
          </a:ln>
        </p:spPr>
      </p:sp>
      <p:sp>
        <p:nvSpPr>
          <p:cNvPr id="17" name="Shape 15"/>
          <p:cNvSpPr/>
          <p:nvPr/>
        </p:nvSpPr>
        <p:spPr>
          <a:xfrm>
            <a:off x="2450592" y="1874520"/>
            <a:ext cx="2084832" cy="3063240"/>
          </a:xfrm>
          <a:prstGeom prst="rect">
            <a:avLst/>
          </a:prstGeom>
          <a:solidFill>
            <a:srgbClr val="F5F0E8"/>
          </a:solidFill>
          <a:ln w="12700">
            <a:solidFill>
              <a:srgbClr val="F5F0E8"/>
            </a:solidFill>
            <a:prstDash val="solid"/>
          </a:ln>
          <a:effectLst>
            <a:outerShdw sx="100000" sy="100000" kx="0" ky="0" algn="bl" rotWithShape="0" blurRad="63500" dist="25400" dir="8100000">
              <a:srgbClr val="1A1A2E">
                <a:alpha val="10000"/>
              </a:srgbClr>
            </a:outerShdw>
          </a:effectLst>
        </p:spPr>
      </p:sp>
      <p:sp>
        <p:nvSpPr>
          <p:cNvPr id="18" name="Shape 16"/>
          <p:cNvSpPr/>
          <p:nvPr/>
        </p:nvSpPr>
        <p:spPr>
          <a:xfrm>
            <a:off x="2450592" y="1874520"/>
            <a:ext cx="2084832" cy="457200"/>
          </a:xfrm>
          <a:prstGeom prst="rect">
            <a:avLst/>
          </a:prstGeom>
          <a:solidFill>
            <a:srgbClr val="1A1A2E"/>
          </a:solidFill>
          <a:ln w="12700">
            <a:solidFill>
              <a:srgbClr val="1A1A2E"/>
            </a:solidFill>
            <a:prstDash val="solid"/>
          </a:ln>
        </p:spPr>
      </p:sp>
      <p:sp>
        <p:nvSpPr>
          <p:cNvPr id="19" name="Text 17"/>
          <p:cNvSpPr/>
          <p:nvPr/>
        </p:nvSpPr>
        <p:spPr>
          <a:xfrm>
            <a:off x="2542032" y="1920240"/>
            <a:ext cx="1920240" cy="365760"/>
          </a:xfrm>
          <a:prstGeom prst="rect">
            <a:avLst/>
          </a:prstGeom>
          <a:noFill/>
          <a:ln/>
        </p:spPr>
        <p:txBody>
          <a:bodyPr wrap="square" lIns="0" tIns="0" rIns="0" bIns="0" rtlCol="0" anchor="ctr"/>
          <a:lstStyle/>
          <a:p>
            <a:pPr indent="0" marL="0">
              <a:buNone/>
            </a:pPr>
            <a:r>
              <a:rPr lang="en-US" sz="1200" b="1" dirty="0">
                <a:solidFill>
                  <a:srgbClr val="F5F0E8"/>
                </a:solidFill>
                <a:latin typeface="Calibri" pitchFamily="34" charset="0"/>
                <a:ea typeface="Calibri" pitchFamily="34" charset="-122"/>
                <a:cs typeface="Calibri" pitchFamily="34" charset="-120"/>
              </a:rPr>
              <a:t>Phase 2  |  Pilot</a:t>
            </a:r>
            <a:endParaRPr lang="en-US" sz="1200" dirty="0"/>
          </a:p>
        </p:txBody>
      </p:sp>
      <p:sp>
        <p:nvSpPr>
          <p:cNvPr id="20" name="Shape 18"/>
          <p:cNvSpPr/>
          <p:nvPr/>
        </p:nvSpPr>
        <p:spPr>
          <a:xfrm>
            <a:off x="2578608" y="2423160"/>
            <a:ext cx="1325880" cy="256032"/>
          </a:xfrm>
          <a:prstGeom prst="rect">
            <a:avLst/>
          </a:prstGeom>
          <a:solidFill>
            <a:srgbClr val="F5F0E8"/>
          </a:solidFill>
          <a:ln w="12700">
            <a:solidFill>
              <a:srgbClr val="F5F0E8"/>
            </a:solidFill>
            <a:prstDash val="solid"/>
          </a:ln>
        </p:spPr>
      </p:sp>
      <p:sp>
        <p:nvSpPr>
          <p:cNvPr id="21" name="Text 19"/>
          <p:cNvSpPr/>
          <p:nvPr/>
        </p:nvSpPr>
        <p:spPr>
          <a:xfrm>
            <a:off x="2578608" y="2423160"/>
            <a:ext cx="1325880" cy="256032"/>
          </a:xfrm>
          <a:prstGeom prst="rect">
            <a:avLst/>
          </a:prstGeom>
          <a:noFill/>
          <a:ln/>
        </p:spPr>
        <p:txBody>
          <a:bodyPr wrap="square" lIns="0" tIns="0" rIns="0" bIns="0" rtlCol="0" anchor="ctr"/>
          <a:lstStyle/>
          <a:p>
            <a:pPr algn="ctr" indent="0" marL="0">
              <a:buNone/>
            </a:pPr>
            <a:r>
              <a:rPr lang="en-US" sz="900" b="1" dirty="0">
                <a:solidFill>
                  <a:srgbClr val="1A1A2E"/>
                </a:solidFill>
                <a:latin typeface="Calibri" pitchFamily="34" charset="0"/>
                <a:ea typeface="Calibri" pitchFamily="34" charset="-122"/>
                <a:cs typeface="Calibri" pitchFamily="34" charset="-120"/>
              </a:rPr>
              <a:t>NEXT</a:t>
            </a:r>
            <a:endParaRPr lang="en-US" sz="900" dirty="0"/>
          </a:p>
        </p:txBody>
      </p:sp>
      <p:sp>
        <p:nvSpPr>
          <p:cNvPr id="22" name="Text 20"/>
          <p:cNvSpPr/>
          <p:nvPr/>
        </p:nvSpPr>
        <p:spPr>
          <a:xfrm>
            <a:off x="2542032" y="2770632"/>
            <a:ext cx="1920240" cy="256032"/>
          </a:xfrm>
          <a:prstGeom prst="rect">
            <a:avLst/>
          </a:prstGeom>
          <a:noFill/>
          <a:ln/>
        </p:spPr>
        <p:txBody>
          <a:bodyPr wrap="square" lIns="0" tIns="0" rIns="0" bIns="0" rtlCol="0" anchor="ctr"/>
          <a:lstStyle/>
          <a:p>
            <a:pPr indent="0" marL="0">
              <a:buNone/>
            </a:pPr>
            <a:r>
              <a:rPr lang="en-US" sz="1000" dirty="0">
                <a:solidFill>
                  <a:srgbClr val="E8DCC8"/>
                </a:solidFill>
                <a:latin typeface="Calibri" pitchFamily="34" charset="0"/>
                <a:ea typeface="Calibri" pitchFamily="34" charset="-122"/>
                <a:cs typeface="Calibri" pitchFamily="34" charset="-120"/>
              </a:rPr>
              <a:t>Jul - Sep 2026</a:t>
            </a:r>
            <a:endParaRPr lang="en-US" sz="1000" dirty="0"/>
          </a:p>
        </p:txBody>
      </p:sp>
      <p:sp>
        <p:nvSpPr>
          <p:cNvPr id="23" name="Text 21"/>
          <p:cNvSpPr/>
          <p:nvPr/>
        </p:nvSpPr>
        <p:spPr>
          <a:xfrm>
            <a:off x="2542032" y="310896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10-20 diaspora families</a:t>
            </a:r>
            <a:endParaRPr lang="en-US" sz="1100" dirty="0"/>
          </a:p>
        </p:txBody>
      </p:sp>
      <p:sp>
        <p:nvSpPr>
          <p:cNvPr id="24" name="Text 22"/>
          <p:cNvSpPr/>
          <p:nvPr/>
        </p:nvSpPr>
        <p:spPr>
          <a:xfrm>
            <a:off x="2542032" y="361188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Billing + multi-tenancy</a:t>
            </a:r>
            <a:endParaRPr lang="en-US" sz="1100" dirty="0"/>
          </a:p>
        </p:txBody>
      </p:sp>
      <p:sp>
        <p:nvSpPr>
          <p:cNvPr id="25" name="Text 23"/>
          <p:cNvSpPr/>
          <p:nvPr/>
        </p:nvSpPr>
        <p:spPr>
          <a:xfrm>
            <a:off x="2542032" y="411480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PMF validation</a:t>
            </a:r>
            <a:endParaRPr lang="en-US" sz="1100" dirty="0"/>
          </a:p>
        </p:txBody>
      </p:sp>
      <p:sp>
        <p:nvSpPr>
          <p:cNvPr id="26" name="Shape 24"/>
          <p:cNvSpPr/>
          <p:nvPr/>
        </p:nvSpPr>
        <p:spPr>
          <a:xfrm>
            <a:off x="5367528" y="1627632"/>
            <a:ext cx="219456" cy="219456"/>
          </a:xfrm>
          <a:prstGeom prst="ellipse">
            <a:avLst/>
          </a:prstGeom>
          <a:solidFill>
            <a:srgbClr val="B5693A"/>
          </a:solidFill>
          <a:ln w="12700">
            <a:solidFill>
              <a:srgbClr val="B5693A"/>
            </a:solidFill>
            <a:prstDash val="solid"/>
          </a:ln>
        </p:spPr>
      </p:sp>
      <p:sp>
        <p:nvSpPr>
          <p:cNvPr id="27" name="Shape 25"/>
          <p:cNvSpPr/>
          <p:nvPr/>
        </p:nvSpPr>
        <p:spPr>
          <a:xfrm>
            <a:off x="4581144" y="1874520"/>
            <a:ext cx="2084832" cy="3063240"/>
          </a:xfrm>
          <a:prstGeom prst="rect">
            <a:avLst/>
          </a:prstGeom>
          <a:solidFill>
            <a:srgbClr val="F5F0E8"/>
          </a:solidFill>
          <a:ln w="12700">
            <a:solidFill>
              <a:srgbClr val="F5F0E8"/>
            </a:solidFill>
            <a:prstDash val="solid"/>
          </a:ln>
          <a:effectLst>
            <a:outerShdw sx="100000" sy="100000" kx="0" ky="0" algn="bl" rotWithShape="0" blurRad="63500" dist="25400" dir="8100000">
              <a:srgbClr val="1A1A2E">
                <a:alpha val="10000"/>
              </a:srgbClr>
            </a:outerShdw>
          </a:effectLst>
        </p:spPr>
      </p:sp>
      <p:sp>
        <p:nvSpPr>
          <p:cNvPr id="28" name="Shape 26"/>
          <p:cNvSpPr/>
          <p:nvPr/>
        </p:nvSpPr>
        <p:spPr>
          <a:xfrm>
            <a:off x="4581144" y="1874520"/>
            <a:ext cx="2084832" cy="457200"/>
          </a:xfrm>
          <a:prstGeom prst="rect">
            <a:avLst/>
          </a:prstGeom>
          <a:solidFill>
            <a:srgbClr val="B5693A"/>
          </a:solidFill>
          <a:ln w="12700">
            <a:solidFill>
              <a:srgbClr val="B5693A"/>
            </a:solidFill>
            <a:prstDash val="solid"/>
          </a:ln>
        </p:spPr>
      </p:sp>
      <p:sp>
        <p:nvSpPr>
          <p:cNvPr id="29" name="Text 27"/>
          <p:cNvSpPr/>
          <p:nvPr/>
        </p:nvSpPr>
        <p:spPr>
          <a:xfrm>
            <a:off x="4672584" y="1920240"/>
            <a:ext cx="1920240" cy="365760"/>
          </a:xfrm>
          <a:prstGeom prst="rect">
            <a:avLst/>
          </a:prstGeom>
          <a:noFill/>
          <a:ln/>
        </p:spPr>
        <p:txBody>
          <a:bodyPr wrap="square" lIns="0" tIns="0" rIns="0" bIns="0" rtlCol="0" anchor="ctr"/>
          <a:lstStyle/>
          <a:p>
            <a:pPr indent="0" marL="0">
              <a:buNone/>
            </a:pPr>
            <a:r>
              <a:rPr lang="en-US" sz="1200" b="1" dirty="0">
                <a:solidFill>
                  <a:srgbClr val="F5F0E8"/>
                </a:solidFill>
                <a:latin typeface="Calibri" pitchFamily="34" charset="0"/>
                <a:ea typeface="Calibri" pitchFamily="34" charset="-122"/>
                <a:cs typeface="Calibri" pitchFamily="34" charset="-120"/>
              </a:rPr>
              <a:t>Phase 3  |  Launch</a:t>
            </a:r>
            <a:endParaRPr lang="en-US" sz="1200" dirty="0"/>
          </a:p>
        </p:txBody>
      </p:sp>
      <p:sp>
        <p:nvSpPr>
          <p:cNvPr id="30" name="Shape 28"/>
          <p:cNvSpPr/>
          <p:nvPr/>
        </p:nvSpPr>
        <p:spPr>
          <a:xfrm>
            <a:off x="4709160" y="2423160"/>
            <a:ext cx="1325880" cy="256032"/>
          </a:xfrm>
          <a:prstGeom prst="rect">
            <a:avLst/>
          </a:prstGeom>
          <a:solidFill>
            <a:srgbClr val="F5F0E8"/>
          </a:solidFill>
          <a:ln w="12700">
            <a:solidFill>
              <a:srgbClr val="F5F0E8"/>
            </a:solidFill>
            <a:prstDash val="solid"/>
          </a:ln>
        </p:spPr>
      </p:sp>
      <p:sp>
        <p:nvSpPr>
          <p:cNvPr id="31" name="Text 29"/>
          <p:cNvSpPr/>
          <p:nvPr/>
        </p:nvSpPr>
        <p:spPr>
          <a:xfrm>
            <a:off x="4709160" y="2423160"/>
            <a:ext cx="1325880" cy="256032"/>
          </a:xfrm>
          <a:prstGeom prst="rect">
            <a:avLst/>
          </a:prstGeom>
          <a:noFill/>
          <a:ln/>
        </p:spPr>
        <p:txBody>
          <a:bodyPr wrap="square" lIns="0" tIns="0" rIns="0" bIns="0" rtlCol="0" anchor="ctr"/>
          <a:lstStyle/>
          <a:p>
            <a:pPr algn="ctr" indent="0" marL="0">
              <a:buNone/>
            </a:pPr>
            <a:r>
              <a:rPr lang="en-US" sz="900" b="1" dirty="0">
                <a:solidFill>
                  <a:srgbClr val="B5693A"/>
                </a:solidFill>
                <a:latin typeface="Calibri" pitchFamily="34" charset="0"/>
                <a:ea typeface="Calibri" pitchFamily="34" charset="-122"/>
                <a:cs typeface="Calibri" pitchFamily="34" charset="-120"/>
              </a:rPr>
              <a:t>PUBLIC</a:t>
            </a:r>
            <a:endParaRPr lang="en-US" sz="900" dirty="0"/>
          </a:p>
        </p:txBody>
      </p:sp>
      <p:sp>
        <p:nvSpPr>
          <p:cNvPr id="32" name="Text 30"/>
          <p:cNvSpPr/>
          <p:nvPr/>
        </p:nvSpPr>
        <p:spPr>
          <a:xfrm>
            <a:off x="4672584" y="2770632"/>
            <a:ext cx="1920240" cy="256032"/>
          </a:xfrm>
          <a:prstGeom prst="rect">
            <a:avLst/>
          </a:prstGeom>
          <a:noFill/>
          <a:ln/>
        </p:spPr>
        <p:txBody>
          <a:bodyPr wrap="square" lIns="0" tIns="0" rIns="0" bIns="0" rtlCol="0" anchor="ctr"/>
          <a:lstStyle/>
          <a:p>
            <a:pPr indent="0" marL="0">
              <a:buNone/>
            </a:pPr>
            <a:r>
              <a:rPr lang="en-US" sz="1000" dirty="0">
                <a:solidFill>
                  <a:srgbClr val="E8DCC8"/>
                </a:solidFill>
                <a:latin typeface="Calibri" pitchFamily="34" charset="0"/>
                <a:ea typeface="Calibri" pitchFamily="34" charset="-122"/>
                <a:cs typeface="Calibri" pitchFamily="34" charset="-120"/>
              </a:rPr>
              <a:t>Oct - Dec 2026</a:t>
            </a:r>
            <a:endParaRPr lang="en-US" sz="1000" dirty="0"/>
          </a:p>
        </p:txBody>
      </p:sp>
      <p:sp>
        <p:nvSpPr>
          <p:cNvPr id="33" name="Text 31"/>
          <p:cNvSpPr/>
          <p:nvPr/>
        </p:nvSpPr>
        <p:spPr>
          <a:xfrm>
            <a:off x="4672584" y="310896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Public launch</a:t>
            </a:r>
            <a:endParaRPr lang="en-US" sz="1100" dirty="0"/>
          </a:p>
        </p:txBody>
      </p:sp>
      <p:sp>
        <p:nvSpPr>
          <p:cNvPr id="34" name="Text 32"/>
          <p:cNvSpPr/>
          <p:nvPr/>
        </p:nvSpPr>
        <p:spPr>
          <a:xfrm>
            <a:off x="4672584" y="361188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100 paying families</a:t>
            </a:r>
            <a:endParaRPr lang="en-US" sz="1100" dirty="0"/>
          </a:p>
        </p:txBody>
      </p:sp>
      <p:sp>
        <p:nvSpPr>
          <p:cNvPr id="35" name="Text 33"/>
          <p:cNvSpPr/>
          <p:nvPr/>
        </p:nvSpPr>
        <p:spPr>
          <a:xfrm>
            <a:off x="4672584" y="411480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$12K+ revenue</a:t>
            </a:r>
            <a:endParaRPr lang="en-US" sz="1100" dirty="0"/>
          </a:p>
        </p:txBody>
      </p:sp>
      <p:sp>
        <p:nvSpPr>
          <p:cNvPr id="36" name="Shape 34"/>
          <p:cNvSpPr/>
          <p:nvPr/>
        </p:nvSpPr>
        <p:spPr>
          <a:xfrm>
            <a:off x="7498080" y="1627632"/>
            <a:ext cx="219456" cy="219456"/>
          </a:xfrm>
          <a:prstGeom prst="ellipse">
            <a:avLst/>
          </a:prstGeom>
          <a:solidFill>
            <a:srgbClr val="B5693A"/>
          </a:solidFill>
          <a:ln w="12700">
            <a:solidFill>
              <a:srgbClr val="B5693A"/>
            </a:solidFill>
            <a:prstDash val="solid"/>
          </a:ln>
        </p:spPr>
      </p:sp>
      <p:sp>
        <p:nvSpPr>
          <p:cNvPr id="37" name="Shape 35"/>
          <p:cNvSpPr/>
          <p:nvPr/>
        </p:nvSpPr>
        <p:spPr>
          <a:xfrm>
            <a:off x="6711696" y="1874520"/>
            <a:ext cx="2084832" cy="3063240"/>
          </a:xfrm>
          <a:prstGeom prst="rect">
            <a:avLst/>
          </a:prstGeom>
          <a:solidFill>
            <a:srgbClr val="F5F0E8"/>
          </a:solidFill>
          <a:ln w="12700">
            <a:solidFill>
              <a:srgbClr val="F5F0E8"/>
            </a:solidFill>
            <a:prstDash val="solid"/>
          </a:ln>
          <a:effectLst>
            <a:outerShdw sx="100000" sy="100000" kx="0" ky="0" algn="bl" rotWithShape="0" blurRad="63500" dist="25400" dir="8100000">
              <a:srgbClr val="1A1A2E">
                <a:alpha val="10000"/>
              </a:srgbClr>
            </a:outerShdw>
          </a:effectLst>
        </p:spPr>
      </p:sp>
      <p:sp>
        <p:nvSpPr>
          <p:cNvPr id="38" name="Shape 36"/>
          <p:cNvSpPr/>
          <p:nvPr/>
        </p:nvSpPr>
        <p:spPr>
          <a:xfrm>
            <a:off x="6711696" y="1874520"/>
            <a:ext cx="2084832" cy="457200"/>
          </a:xfrm>
          <a:prstGeom prst="rect">
            <a:avLst/>
          </a:prstGeom>
          <a:solidFill>
            <a:srgbClr val="B5693A"/>
          </a:solidFill>
          <a:ln w="12700">
            <a:solidFill>
              <a:srgbClr val="B5693A"/>
            </a:solidFill>
            <a:prstDash val="solid"/>
          </a:ln>
        </p:spPr>
      </p:sp>
      <p:sp>
        <p:nvSpPr>
          <p:cNvPr id="39" name="Text 37"/>
          <p:cNvSpPr/>
          <p:nvPr/>
        </p:nvSpPr>
        <p:spPr>
          <a:xfrm>
            <a:off x="6803136" y="1920240"/>
            <a:ext cx="1920240" cy="365760"/>
          </a:xfrm>
          <a:prstGeom prst="rect">
            <a:avLst/>
          </a:prstGeom>
          <a:noFill/>
          <a:ln/>
        </p:spPr>
        <p:txBody>
          <a:bodyPr wrap="square" lIns="0" tIns="0" rIns="0" bIns="0" rtlCol="0" anchor="ctr"/>
          <a:lstStyle/>
          <a:p>
            <a:pPr indent="0" marL="0">
              <a:buNone/>
            </a:pPr>
            <a:r>
              <a:rPr lang="en-US" sz="1200" b="1" dirty="0">
                <a:solidFill>
                  <a:srgbClr val="F5F0E8"/>
                </a:solidFill>
                <a:latin typeface="Calibri" pitchFamily="34" charset="0"/>
                <a:ea typeface="Calibri" pitchFamily="34" charset="-122"/>
                <a:cs typeface="Calibri" pitchFamily="34" charset="-120"/>
              </a:rPr>
              <a:t>Phase 4  |  Scale</a:t>
            </a:r>
            <a:endParaRPr lang="en-US" sz="1200" dirty="0"/>
          </a:p>
        </p:txBody>
      </p:sp>
      <p:sp>
        <p:nvSpPr>
          <p:cNvPr id="40" name="Shape 38"/>
          <p:cNvSpPr/>
          <p:nvPr/>
        </p:nvSpPr>
        <p:spPr>
          <a:xfrm>
            <a:off x="6839712" y="2423160"/>
            <a:ext cx="1325880" cy="256032"/>
          </a:xfrm>
          <a:prstGeom prst="rect">
            <a:avLst/>
          </a:prstGeom>
          <a:solidFill>
            <a:srgbClr val="F5F0E8"/>
          </a:solidFill>
          <a:ln w="12700">
            <a:solidFill>
              <a:srgbClr val="F5F0E8"/>
            </a:solidFill>
            <a:prstDash val="solid"/>
          </a:ln>
        </p:spPr>
      </p:sp>
      <p:sp>
        <p:nvSpPr>
          <p:cNvPr id="41" name="Text 39"/>
          <p:cNvSpPr/>
          <p:nvPr/>
        </p:nvSpPr>
        <p:spPr>
          <a:xfrm>
            <a:off x="6839712" y="2423160"/>
            <a:ext cx="1325880" cy="256032"/>
          </a:xfrm>
          <a:prstGeom prst="rect">
            <a:avLst/>
          </a:prstGeom>
          <a:noFill/>
          <a:ln/>
        </p:spPr>
        <p:txBody>
          <a:bodyPr wrap="square" lIns="0" tIns="0" rIns="0" bIns="0" rtlCol="0" anchor="ctr"/>
          <a:lstStyle/>
          <a:p>
            <a:pPr algn="ctr" indent="0" marL="0">
              <a:buNone/>
            </a:pPr>
            <a:r>
              <a:rPr lang="en-US" sz="900" b="1" dirty="0">
                <a:solidFill>
                  <a:srgbClr val="B5693A"/>
                </a:solidFill>
                <a:latin typeface="Calibri" pitchFamily="34" charset="0"/>
                <a:ea typeface="Calibri" pitchFamily="34" charset="-122"/>
                <a:cs typeface="Calibri" pitchFamily="34" charset="-120"/>
              </a:rPr>
              <a:t>SCALE</a:t>
            </a:r>
            <a:endParaRPr lang="en-US" sz="900" dirty="0"/>
          </a:p>
        </p:txBody>
      </p:sp>
      <p:sp>
        <p:nvSpPr>
          <p:cNvPr id="42" name="Text 40"/>
          <p:cNvSpPr/>
          <p:nvPr/>
        </p:nvSpPr>
        <p:spPr>
          <a:xfrm>
            <a:off x="6803136" y="2770632"/>
            <a:ext cx="1920240" cy="256032"/>
          </a:xfrm>
          <a:prstGeom prst="rect">
            <a:avLst/>
          </a:prstGeom>
          <a:noFill/>
          <a:ln/>
        </p:spPr>
        <p:txBody>
          <a:bodyPr wrap="square" lIns="0" tIns="0" rIns="0" bIns="0" rtlCol="0" anchor="ctr"/>
          <a:lstStyle/>
          <a:p>
            <a:pPr indent="0" marL="0">
              <a:buNone/>
            </a:pPr>
            <a:r>
              <a:rPr lang="en-US" sz="1000" dirty="0">
                <a:solidFill>
                  <a:srgbClr val="E8DCC8"/>
                </a:solidFill>
                <a:latin typeface="Calibri" pitchFamily="34" charset="0"/>
                <a:ea typeface="Calibri" pitchFamily="34" charset="-122"/>
                <a:cs typeface="Calibri" pitchFamily="34" charset="-120"/>
              </a:rPr>
              <a:t>2027+</a:t>
            </a:r>
            <a:endParaRPr lang="en-US" sz="1000" dirty="0"/>
          </a:p>
        </p:txBody>
      </p:sp>
      <p:sp>
        <p:nvSpPr>
          <p:cNvPr id="43" name="Text 41"/>
          <p:cNvSpPr/>
          <p:nvPr/>
        </p:nvSpPr>
        <p:spPr>
          <a:xfrm>
            <a:off x="6803136" y="310896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1,000 families</a:t>
            </a:r>
            <a:endParaRPr lang="en-US" sz="1100" dirty="0"/>
          </a:p>
        </p:txBody>
      </p:sp>
      <p:sp>
        <p:nvSpPr>
          <p:cNvPr id="44" name="Text 42"/>
          <p:cNvSpPr/>
          <p:nvPr/>
        </p:nvSpPr>
        <p:spPr>
          <a:xfrm>
            <a:off x="6803136" y="361188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8+ languages</a:t>
            </a:r>
            <a:endParaRPr lang="en-US" sz="1100" dirty="0"/>
          </a:p>
        </p:txBody>
      </p:sp>
      <p:sp>
        <p:nvSpPr>
          <p:cNvPr id="45" name="Text 43"/>
          <p:cNvSpPr/>
          <p:nvPr/>
        </p:nvSpPr>
        <p:spPr>
          <a:xfrm>
            <a:off x="6803136" y="4114800"/>
            <a:ext cx="1920240" cy="45720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-&gt; Institutional licenses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DCC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5693A"/>
          </a:solidFill>
          <a:ln w="12700">
            <a:solidFill>
              <a:srgbClr val="B5693A"/>
            </a:solidFill>
            <a:prstDash val="solid"/>
          </a:ln>
        </p:spPr>
      </p:sp>
      <p:sp>
        <p:nvSpPr>
          <p:cNvPr id="3" name="Shape 1"/>
          <p:cNvSpPr/>
          <p:nvPr/>
        </p:nvSpPr>
        <p:spPr>
          <a:xfrm>
            <a:off x="0" y="5047488"/>
            <a:ext cx="9144000" cy="82296"/>
          </a:xfrm>
          <a:prstGeom prst="rect">
            <a:avLst/>
          </a:prstGeom>
          <a:solidFill>
            <a:srgbClr val="1A1A2E"/>
          </a:solidFill>
          <a:ln w="12700">
            <a:solidFill>
              <a:srgbClr val="1A1A2E"/>
            </a:solidFill>
            <a:prstDash val="solid"/>
          </a:ln>
        </p:spPr>
      </p:sp>
      <p:sp>
        <p:nvSpPr>
          <p:cNvPr id="4" name="Text 2"/>
          <p:cNvSpPr/>
          <p:nvPr/>
        </p:nvSpPr>
        <p:spPr>
          <a:xfrm>
            <a:off x="594360" y="228600"/>
            <a:ext cx="7315200" cy="320040"/>
          </a:xfrm>
          <a:prstGeom prst="rect">
            <a:avLst/>
          </a:prstGeom>
          <a:noFill/>
          <a:ln/>
        </p:spPr>
        <p:txBody>
          <a:bodyPr wrap="square" lIns="0" tIns="0" rIns="0" bIns="0" rtlCol="0" anchor="ctr"/>
          <a:lstStyle/>
          <a:p>
            <a:pPr indent="0" marL="0">
              <a:buNone/>
            </a:pPr>
            <a:r>
              <a:rPr lang="en-US" sz="1100" b="1" spc="400" kern="0" dirty="0">
                <a:solidFill>
                  <a:srgbClr val="B5693A"/>
                </a:solidFill>
                <a:latin typeface="Calibri" pitchFamily="34" charset="0"/>
                <a:ea typeface="Calibri" pitchFamily="34" charset="-122"/>
                <a:cs typeface="Calibri" pitchFamily="34" charset="-120"/>
              </a:rPr>
              <a:t>NEXT STEPS</a:t>
            </a:r>
            <a:endParaRPr lang="en-US" sz="1100" dirty="0"/>
          </a:p>
        </p:txBody>
      </p:sp>
      <p:sp>
        <p:nvSpPr>
          <p:cNvPr id="5" name="Text 3"/>
          <p:cNvSpPr/>
          <p:nvPr/>
        </p:nvSpPr>
        <p:spPr>
          <a:xfrm>
            <a:off x="594360" y="621792"/>
            <a:ext cx="8046720" cy="868680"/>
          </a:xfrm>
          <a:prstGeom prst="rect">
            <a:avLst/>
          </a:prstGeom>
          <a:noFill/>
          <a:ln/>
        </p:spPr>
        <p:txBody>
          <a:bodyPr wrap="square" lIns="0" tIns="0" rIns="0" bIns="0" rtlCol="0" anchor="ctr"/>
          <a:lstStyle/>
          <a:p>
            <a:pPr indent="0" marL="0">
              <a:buNone/>
            </a:pPr>
            <a:r>
              <a:rPr lang="en-US" sz="4400" b="1" dirty="0">
                <a:solidFill>
                  <a:srgbClr val="1A1A2E"/>
                </a:solidFill>
                <a:latin typeface="Georgia" pitchFamily="34" charset="0"/>
                <a:ea typeface="Georgia" pitchFamily="34" charset="-122"/>
                <a:cs typeface="Georgia" pitchFamily="34" charset="-120"/>
              </a:rPr>
              <a:t>Phase 2 starts July 2026.</a:t>
            </a:r>
            <a:endParaRPr lang="en-US" sz="4400" dirty="0"/>
          </a:p>
        </p:txBody>
      </p:sp>
      <p:sp>
        <p:nvSpPr>
          <p:cNvPr id="6" name="Text 4"/>
          <p:cNvSpPr/>
          <p:nvPr/>
        </p:nvSpPr>
        <p:spPr>
          <a:xfrm>
            <a:off x="594360" y="1508760"/>
            <a:ext cx="7772400" cy="438912"/>
          </a:xfrm>
          <a:prstGeom prst="rect">
            <a:avLst/>
          </a:prstGeom>
          <a:noFill/>
          <a:ln/>
        </p:spPr>
        <p:txBody>
          <a:bodyPr wrap="square" lIns="0" tIns="0" rIns="0" bIns="0" rtlCol="0" anchor="ctr"/>
          <a:lstStyle/>
          <a:p>
            <a:pPr indent="0" marL="0">
              <a:buNone/>
            </a:pPr>
            <a:r>
              <a:rPr lang="en-US" sz="1600" i="1" dirty="0">
                <a:solidFill>
                  <a:srgbClr val="1A1A2E"/>
                </a:solidFill>
                <a:latin typeface="Calibri" pitchFamily="34" charset="0"/>
                <a:ea typeface="Calibri" pitchFamily="34" charset="-122"/>
                <a:cs typeface="Calibri" pitchFamily="34" charset="-120"/>
              </a:rPr>
              <a:t>Here's what we're building -- and where you come in.</a:t>
            </a:r>
            <a:endParaRPr lang="en-US" sz="1600" dirty="0"/>
          </a:p>
        </p:txBody>
      </p:sp>
      <p:sp>
        <p:nvSpPr>
          <p:cNvPr id="7" name="Shape 5"/>
          <p:cNvSpPr/>
          <p:nvPr/>
        </p:nvSpPr>
        <p:spPr>
          <a:xfrm>
            <a:off x="457200" y="2084832"/>
            <a:ext cx="4023360" cy="1298448"/>
          </a:xfrm>
          <a:prstGeom prst="rect">
            <a:avLst/>
          </a:prstGeom>
          <a:solidFill>
            <a:srgbClr val="1A1A2E"/>
          </a:solidFill>
          <a:ln w="12700">
            <a:solidFill>
              <a:srgbClr val="1A1A2E"/>
            </a:solidFill>
            <a:prstDash val="solid"/>
          </a:ln>
        </p:spPr>
      </p:sp>
      <p:sp>
        <p:nvSpPr>
          <p:cNvPr id="8" name="Shape 6"/>
          <p:cNvSpPr/>
          <p:nvPr/>
        </p:nvSpPr>
        <p:spPr>
          <a:xfrm>
            <a:off x="457200" y="2084832"/>
            <a:ext cx="82296" cy="1298448"/>
          </a:xfrm>
          <a:prstGeom prst="rect">
            <a:avLst/>
          </a:prstGeom>
          <a:solidFill>
            <a:srgbClr val="B5693A"/>
          </a:solidFill>
          <a:ln w="12700">
            <a:solidFill>
              <a:srgbClr val="B5693A"/>
            </a:solidFill>
            <a:prstDash val="solid"/>
          </a:ln>
        </p:spPr>
      </p:sp>
      <p:sp>
        <p:nvSpPr>
          <p:cNvPr id="9" name="Text 7"/>
          <p:cNvSpPr/>
          <p:nvPr/>
        </p:nvSpPr>
        <p:spPr>
          <a:xfrm>
            <a:off x="658368" y="2176272"/>
            <a:ext cx="713232" cy="502920"/>
          </a:xfrm>
          <a:prstGeom prst="rect">
            <a:avLst/>
          </a:prstGeom>
          <a:noFill/>
          <a:ln/>
        </p:spPr>
        <p:txBody>
          <a:bodyPr wrap="square" lIns="0" tIns="0" rIns="0" bIns="0" rtlCol="0" anchor="ctr"/>
          <a:lstStyle/>
          <a:p>
            <a:pPr indent="0" marL="0">
              <a:buNone/>
            </a:pPr>
            <a:r>
              <a:rPr lang="en-US" sz="2400" b="1" dirty="0">
                <a:solidFill>
                  <a:srgbClr val="B5693A"/>
                </a:solidFill>
                <a:latin typeface="Georgia" pitchFamily="34" charset="0"/>
                <a:ea typeface="Georgia" pitchFamily="34" charset="-122"/>
                <a:cs typeface="Georgia" pitchFamily="34" charset="-120"/>
              </a:rPr>
              <a:t>01</a:t>
            </a:r>
            <a:endParaRPr lang="en-US" sz="2400" dirty="0"/>
          </a:p>
        </p:txBody>
      </p:sp>
      <p:sp>
        <p:nvSpPr>
          <p:cNvPr id="10" name="Text 8"/>
          <p:cNvSpPr/>
          <p:nvPr/>
        </p:nvSpPr>
        <p:spPr>
          <a:xfrm>
            <a:off x="1426464" y="2203704"/>
            <a:ext cx="2852928" cy="384048"/>
          </a:xfrm>
          <a:prstGeom prst="rect">
            <a:avLst/>
          </a:prstGeom>
          <a:noFill/>
          <a:ln/>
        </p:spPr>
        <p:txBody>
          <a:bodyPr wrap="square" lIns="0" tIns="0" rIns="0" bIns="0" rtlCol="0" anchor="ctr"/>
          <a:lstStyle/>
          <a:p>
            <a:pPr indent="0" marL="0">
              <a:buNone/>
            </a:pPr>
            <a:r>
              <a:rPr lang="en-US" sz="1450" b="1" dirty="0">
                <a:solidFill>
                  <a:srgbClr val="F5F0E8"/>
                </a:solidFill>
                <a:latin typeface="Calibri" pitchFamily="34" charset="0"/>
                <a:ea typeface="Calibri" pitchFamily="34" charset="-122"/>
                <a:cs typeface="Calibri" pitchFamily="34" charset="-120"/>
              </a:rPr>
              <a:t>Product Build</a:t>
            </a:r>
            <a:endParaRPr lang="en-US" sz="1450" dirty="0"/>
          </a:p>
        </p:txBody>
      </p:sp>
      <p:sp>
        <p:nvSpPr>
          <p:cNvPr id="11" name="Text 9"/>
          <p:cNvSpPr/>
          <p:nvPr/>
        </p:nvSpPr>
        <p:spPr>
          <a:xfrm>
            <a:off x="1426464" y="2606040"/>
            <a:ext cx="2852928" cy="731520"/>
          </a:xfrm>
          <a:prstGeom prst="rect">
            <a:avLst/>
          </a:prstGeom>
          <a:noFill/>
          <a:ln/>
        </p:spPr>
        <p:txBody>
          <a:bodyPr wrap="square" lIns="0" tIns="0" rIns="0" bIns="0" rtlCol="0" anchor="t"/>
          <a:lstStyle/>
          <a:p>
            <a:pPr indent="0" marL="0">
              <a:buNone/>
            </a:pPr>
            <a:r>
              <a:rPr lang="en-US" sz="1200" dirty="0">
                <a:solidFill>
                  <a:srgbClr val="E8DCC8"/>
                </a:solidFill>
                <a:latin typeface="Calibri" pitchFamily="34" charset="0"/>
                <a:ea typeface="Calibri" pitchFamily="34" charset="-122"/>
                <a:cs typeface="Calibri" pitchFamily="34" charset="-120"/>
              </a:rPr>
              <a:t>Multi-tenancy, self-serve signup, Stripe billing -- 8 weeks of focused engineering.</a:t>
            </a:r>
            <a:endParaRPr lang="en-US" sz="1200" dirty="0"/>
          </a:p>
        </p:txBody>
      </p:sp>
      <p:sp>
        <p:nvSpPr>
          <p:cNvPr id="12" name="Shape 10"/>
          <p:cNvSpPr/>
          <p:nvPr/>
        </p:nvSpPr>
        <p:spPr>
          <a:xfrm>
            <a:off x="4709160" y="2084832"/>
            <a:ext cx="4023360" cy="1298448"/>
          </a:xfrm>
          <a:prstGeom prst="rect">
            <a:avLst/>
          </a:prstGeom>
          <a:solidFill>
            <a:srgbClr val="1A1A2E"/>
          </a:solidFill>
          <a:ln w="12700">
            <a:solidFill>
              <a:srgbClr val="1A1A2E"/>
            </a:solidFill>
            <a:prstDash val="solid"/>
          </a:ln>
        </p:spPr>
      </p:sp>
      <p:sp>
        <p:nvSpPr>
          <p:cNvPr id="13" name="Shape 11"/>
          <p:cNvSpPr/>
          <p:nvPr/>
        </p:nvSpPr>
        <p:spPr>
          <a:xfrm>
            <a:off x="4709160" y="2084832"/>
            <a:ext cx="82296" cy="1298448"/>
          </a:xfrm>
          <a:prstGeom prst="rect">
            <a:avLst/>
          </a:prstGeom>
          <a:solidFill>
            <a:srgbClr val="1A1A2E"/>
          </a:solidFill>
          <a:ln w="12700">
            <a:solidFill>
              <a:srgbClr val="1A1A2E"/>
            </a:solidFill>
            <a:prstDash val="solid"/>
          </a:ln>
        </p:spPr>
      </p:sp>
      <p:sp>
        <p:nvSpPr>
          <p:cNvPr id="14" name="Text 12"/>
          <p:cNvSpPr/>
          <p:nvPr/>
        </p:nvSpPr>
        <p:spPr>
          <a:xfrm>
            <a:off x="4910328" y="2176272"/>
            <a:ext cx="713232" cy="502920"/>
          </a:xfrm>
          <a:prstGeom prst="rect">
            <a:avLst/>
          </a:prstGeom>
          <a:noFill/>
          <a:ln/>
        </p:spPr>
        <p:txBody>
          <a:bodyPr wrap="square" lIns="0" tIns="0" rIns="0" bIns="0" rtlCol="0" anchor="ctr"/>
          <a:lstStyle/>
          <a:p>
            <a:pPr indent="0" marL="0">
              <a:buNone/>
            </a:pPr>
            <a:r>
              <a:rPr lang="en-US" sz="2400" b="1" dirty="0">
                <a:solidFill>
                  <a:srgbClr val="B5693A"/>
                </a:solidFill>
                <a:latin typeface="Georgia" pitchFamily="34" charset="0"/>
                <a:ea typeface="Georgia" pitchFamily="34" charset="-122"/>
                <a:cs typeface="Georgia" pitchFamily="34" charset="-120"/>
              </a:rPr>
              <a:t>02</a:t>
            </a:r>
            <a:endParaRPr lang="en-US" sz="2400" dirty="0"/>
          </a:p>
        </p:txBody>
      </p:sp>
      <p:sp>
        <p:nvSpPr>
          <p:cNvPr id="15" name="Text 13"/>
          <p:cNvSpPr/>
          <p:nvPr/>
        </p:nvSpPr>
        <p:spPr>
          <a:xfrm>
            <a:off x="5678424" y="2203704"/>
            <a:ext cx="2852928" cy="384048"/>
          </a:xfrm>
          <a:prstGeom prst="rect">
            <a:avLst/>
          </a:prstGeom>
          <a:noFill/>
          <a:ln/>
        </p:spPr>
        <p:txBody>
          <a:bodyPr wrap="square" lIns="0" tIns="0" rIns="0" bIns="0" rtlCol="0" anchor="ctr"/>
          <a:lstStyle/>
          <a:p>
            <a:pPr indent="0" marL="0">
              <a:buNone/>
            </a:pPr>
            <a:r>
              <a:rPr lang="en-US" sz="1450" b="1" dirty="0">
                <a:solidFill>
                  <a:srgbClr val="F5F0E8"/>
                </a:solidFill>
                <a:latin typeface="Calibri" pitchFamily="34" charset="0"/>
                <a:ea typeface="Calibri" pitchFamily="34" charset="-122"/>
                <a:cs typeface="Calibri" pitchFamily="34" charset="-120"/>
              </a:rPr>
              <a:t>Pilot Families</a:t>
            </a:r>
            <a:endParaRPr lang="en-US" sz="1450" dirty="0"/>
          </a:p>
        </p:txBody>
      </p:sp>
      <p:sp>
        <p:nvSpPr>
          <p:cNvPr id="16" name="Text 14"/>
          <p:cNvSpPr/>
          <p:nvPr/>
        </p:nvSpPr>
        <p:spPr>
          <a:xfrm>
            <a:off x="5678424" y="2606040"/>
            <a:ext cx="2852928" cy="731520"/>
          </a:xfrm>
          <a:prstGeom prst="rect">
            <a:avLst/>
          </a:prstGeom>
          <a:noFill/>
          <a:ln/>
        </p:spPr>
        <p:txBody>
          <a:bodyPr wrap="square" lIns="0" tIns="0" rIns="0" bIns="0" rtlCol="0" anchor="t"/>
          <a:lstStyle/>
          <a:p>
            <a:pPr indent="0" marL="0">
              <a:buNone/>
            </a:pPr>
            <a:r>
              <a:rPr lang="en-US" sz="1200" dirty="0">
                <a:solidFill>
                  <a:srgbClr val="E8DCC8"/>
                </a:solidFill>
                <a:latin typeface="Calibri" pitchFamily="34" charset="0"/>
                <a:ea typeface="Calibri" pitchFamily="34" charset="-122"/>
                <a:cs typeface="Calibri" pitchFamily="34" charset="-120"/>
              </a:rPr>
              <a:t>10-20 families from Cambodian, Vietnamese, Somali, and Ukrainian diaspora networks.</a:t>
            </a:r>
            <a:endParaRPr lang="en-US" sz="1200" dirty="0"/>
          </a:p>
        </p:txBody>
      </p:sp>
      <p:sp>
        <p:nvSpPr>
          <p:cNvPr id="17" name="Shape 15"/>
          <p:cNvSpPr/>
          <p:nvPr/>
        </p:nvSpPr>
        <p:spPr>
          <a:xfrm>
            <a:off x="457200" y="3438144"/>
            <a:ext cx="4023360" cy="1298448"/>
          </a:xfrm>
          <a:prstGeom prst="rect">
            <a:avLst/>
          </a:prstGeom>
          <a:solidFill>
            <a:srgbClr val="1A1A2E"/>
          </a:solidFill>
          <a:ln w="12700">
            <a:solidFill>
              <a:srgbClr val="1A1A2E"/>
            </a:solidFill>
            <a:prstDash val="solid"/>
          </a:ln>
        </p:spPr>
      </p:sp>
      <p:sp>
        <p:nvSpPr>
          <p:cNvPr id="18" name="Shape 16"/>
          <p:cNvSpPr/>
          <p:nvPr/>
        </p:nvSpPr>
        <p:spPr>
          <a:xfrm>
            <a:off x="457200" y="3438144"/>
            <a:ext cx="82296" cy="1298448"/>
          </a:xfrm>
          <a:prstGeom prst="rect">
            <a:avLst/>
          </a:prstGeom>
          <a:solidFill>
            <a:srgbClr val="B5693A"/>
          </a:solidFill>
          <a:ln w="12700">
            <a:solidFill>
              <a:srgbClr val="B5693A"/>
            </a:solidFill>
            <a:prstDash val="solid"/>
          </a:ln>
        </p:spPr>
      </p:sp>
      <p:sp>
        <p:nvSpPr>
          <p:cNvPr id="19" name="Text 17"/>
          <p:cNvSpPr/>
          <p:nvPr/>
        </p:nvSpPr>
        <p:spPr>
          <a:xfrm>
            <a:off x="658368" y="3529584"/>
            <a:ext cx="713232" cy="502920"/>
          </a:xfrm>
          <a:prstGeom prst="rect">
            <a:avLst/>
          </a:prstGeom>
          <a:noFill/>
          <a:ln/>
        </p:spPr>
        <p:txBody>
          <a:bodyPr wrap="square" lIns="0" tIns="0" rIns="0" bIns="0" rtlCol="0" anchor="ctr"/>
          <a:lstStyle/>
          <a:p>
            <a:pPr indent="0" marL="0">
              <a:buNone/>
            </a:pPr>
            <a:r>
              <a:rPr lang="en-US" sz="2400" b="1" dirty="0">
                <a:solidFill>
                  <a:srgbClr val="B5693A"/>
                </a:solidFill>
                <a:latin typeface="Georgia" pitchFamily="34" charset="0"/>
                <a:ea typeface="Georgia" pitchFamily="34" charset="-122"/>
                <a:cs typeface="Georgia" pitchFamily="34" charset="-120"/>
              </a:rPr>
              <a:t>03</a:t>
            </a:r>
            <a:endParaRPr lang="en-US" sz="2400" dirty="0"/>
          </a:p>
        </p:txBody>
      </p:sp>
      <p:sp>
        <p:nvSpPr>
          <p:cNvPr id="20" name="Text 18"/>
          <p:cNvSpPr/>
          <p:nvPr/>
        </p:nvSpPr>
        <p:spPr>
          <a:xfrm>
            <a:off x="1426464" y="3557016"/>
            <a:ext cx="2852928" cy="384048"/>
          </a:xfrm>
          <a:prstGeom prst="rect">
            <a:avLst/>
          </a:prstGeom>
          <a:noFill/>
          <a:ln/>
        </p:spPr>
        <p:txBody>
          <a:bodyPr wrap="square" lIns="0" tIns="0" rIns="0" bIns="0" rtlCol="0" anchor="ctr"/>
          <a:lstStyle/>
          <a:p>
            <a:pPr indent="0" marL="0">
              <a:buNone/>
            </a:pPr>
            <a:r>
              <a:rPr lang="en-US" sz="1450" b="1" dirty="0">
                <a:solidFill>
                  <a:srgbClr val="F5F0E8"/>
                </a:solidFill>
                <a:latin typeface="Calibri" pitchFamily="34" charset="0"/>
                <a:ea typeface="Calibri" pitchFamily="34" charset="-122"/>
                <a:cs typeface="Calibri" pitchFamily="34" charset="-120"/>
              </a:rPr>
              <a:t>Feedback Loop</a:t>
            </a:r>
            <a:endParaRPr lang="en-US" sz="1450" dirty="0"/>
          </a:p>
        </p:txBody>
      </p:sp>
      <p:sp>
        <p:nvSpPr>
          <p:cNvPr id="21" name="Text 19"/>
          <p:cNvSpPr/>
          <p:nvPr/>
        </p:nvSpPr>
        <p:spPr>
          <a:xfrm>
            <a:off x="1426464" y="3959352"/>
            <a:ext cx="2852928" cy="731520"/>
          </a:xfrm>
          <a:prstGeom prst="rect">
            <a:avLst/>
          </a:prstGeom>
          <a:noFill/>
          <a:ln/>
        </p:spPr>
        <p:txBody>
          <a:bodyPr wrap="square" lIns="0" tIns="0" rIns="0" bIns="0" rtlCol="0" anchor="t"/>
          <a:lstStyle/>
          <a:p>
            <a:pPr indent="0" marL="0">
              <a:buNone/>
            </a:pPr>
            <a:r>
              <a:rPr lang="en-US" sz="1200" dirty="0">
                <a:solidFill>
                  <a:srgbClr val="E8DCC8"/>
                </a:solidFill>
                <a:latin typeface="Calibri" pitchFamily="34" charset="0"/>
                <a:ea typeface="Calibri" pitchFamily="34" charset="-122"/>
                <a:cs typeface="Calibri" pitchFamily="34" charset="-120"/>
              </a:rPr>
              <a:t>Bi-weekly calls with pilot families. Structured input -&gt; product decisions.</a:t>
            </a:r>
            <a:endParaRPr lang="en-US" sz="1200" dirty="0"/>
          </a:p>
        </p:txBody>
      </p:sp>
      <p:sp>
        <p:nvSpPr>
          <p:cNvPr id="22" name="Shape 20"/>
          <p:cNvSpPr/>
          <p:nvPr/>
        </p:nvSpPr>
        <p:spPr>
          <a:xfrm>
            <a:off x="4709160" y="3438144"/>
            <a:ext cx="4023360" cy="1298448"/>
          </a:xfrm>
          <a:prstGeom prst="rect">
            <a:avLst/>
          </a:prstGeom>
          <a:solidFill>
            <a:srgbClr val="1A1A2E"/>
          </a:solidFill>
          <a:ln w="12700">
            <a:solidFill>
              <a:srgbClr val="1A1A2E"/>
            </a:solidFill>
            <a:prstDash val="solid"/>
          </a:ln>
        </p:spPr>
      </p:sp>
      <p:sp>
        <p:nvSpPr>
          <p:cNvPr id="23" name="Shape 21"/>
          <p:cNvSpPr/>
          <p:nvPr/>
        </p:nvSpPr>
        <p:spPr>
          <a:xfrm>
            <a:off x="4709160" y="3438144"/>
            <a:ext cx="82296" cy="1298448"/>
          </a:xfrm>
          <a:prstGeom prst="rect">
            <a:avLst/>
          </a:prstGeom>
          <a:solidFill>
            <a:srgbClr val="B5693A"/>
          </a:solidFill>
          <a:ln w="12700">
            <a:solidFill>
              <a:srgbClr val="B5693A"/>
            </a:solidFill>
            <a:prstDash val="solid"/>
          </a:ln>
        </p:spPr>
      </p:sp>
      <p:sp>
        <p:nvSpPr>
          <p:cNvPr id="24" name="Text 22"/>
          <p:cNvSpPr/>
          <p:nvPr/>
        </p:nvSpPr>
        <p:spPr>
          <a:xfrm>
            <a:off x="4910328" y="3529584"/>
            <a:ext cx="713232" cy="502920"/>
          </a:xfrm>
          <a:prstGeom prst="rect">
            <a:avLst/>
          </a:prstGeom>
          <a:noFill/>
          <a:ln/>
        </p:spPr>
        <p:txBody>
          <a:bodyPr wrap="square" lIns="0" tIns="0" rIns="0" bIns="0" rtlCol="0" anchor="ctr"/>
          <a:lstStyle/>
          <a:p>
            <a:pPr indent="0" marL="0">
              <a:buNone/>
            </a:pPr>
            <a:r>
              <a:rPr lang="en-US" sz="2400" b="1" dirty="0">
                <a:solidFill>
                  <a:srgbClr val="B5693A"/>
                </a:solidFill>
                <a:latin typeface="Georgia" pitchFamily="34" charset="0"/>
                <a:ea typeface="Georgia" pitchFamily="34" charset="-122"/>
                <a:cs typeface="Georgia" pitchFamily="34" charset="-120"/>
              </a:rPr>
              <a:t>04</a:t>
            </a:r>
            <a:endParaRPr lang="en-US" sz="2400" dirty="0"/>
          </a:p>
        </p:txBody>
      </p:sp>
      <p:sp>
        <p:nvSpPr>
          <p:cNvPr id="25" name="Text 23"/>
          <p:cNvSpPr/>
          <p:nvPr/>
        </p:nvSpPr>
        <p:spPr>
          <a:xfrm>
            <a:off x="5678424" y="3557016"/>
            <a:ext cx="2852928" cy="384048"/>
          </a:xfrm>
          <a:prstGeom prst="rect">
            <a:avLst/>
          </a:prstGeom>
          <a:noFill/>
          <a:ln/>
        </p:spPr>
        <p:txBody>
          <a:bodyPr wrap="square" lIns="0" tIns="0" rIns="0" bIns="0" rtlCol="0" anchor="ctr"/>
          <a:lstStyle/>
          <a:p>
            <a:pPr indent="0" marL="0">
              <a:buNone/>
            </a:pPr>
            <a:r>
              <a:rPr lang="en-US" sz="1450" b="1" dirty="0">
                <a:solidFill>
                  <a:srgbClr val="F5F0E8"/>
                </a:solidFill>
                <a:latin typeface="Calibri" pitchFamily="34" charset="0"/>
                <a:ea typeface="Calibri" pitchFamily="34" charset="-122"/>
                <a:cs typeface="Calibri" pitchFamily="34" charset="-120"/>
              </a:rPr>
              <a:t>Your Support</a:t>
            </a:r>
            <a:endParaRPr lang="en-US" sz="1450" dirty="0"/>
          </a:p>
        </p:txBody>
      </p:sp>
      <p:sp>
        <p:nvSpPr>
          <p:cNvPr id="26" name="Text 24"/>
          <p:cNvSpPr/>
          <p:nvPr/>
        </p:nvSpPr>
        <p:spPr>
          <a:xfrm>
            <a:off x="5678424" y="3959352"/>
            <a:ext cx="2852928" cy="731520"/>
          </a:xfrm>
          <a:prstGeom prst="rect">
            <a:avLst/>
          </a:prstGeom>
          <a:noFill/>
          <a:ln/>
        </p:spPr>
        <p:txBody>
          <a:bodyPr wrap="square" lIns="0" tIns="0" rIns="0" bIns="0" rtlCol="0" anchor="t"/>
          <a:lstStyle/>
          <a:p>
            <a:pPr indent="0" marL="0">
              <a:buNone/>
            </a:pPr>
            <a:r>
              <a:rPr lang="en-US" sz="1200" dirty="0">
                <a:solidFill>
                  <a:srgbClr val="E8DCC8"/>
                </a:solidFill>
                <a:latin typeface="Calibri" pitchFamily="34" charset="0"/>
                <a:ea typeface="Calibri" pitchFamily="34" charset="-122"/>
                <a:cs typeface="Calibri" pitchFamily="34" charset="-120"/>
              </a:rPr>
              <a:t>Introductions to diaspora networks. AI pipeline feedback. Investment consideration.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DCC8"/>
        </a:solidFill>
      </p:bgPr>
    </p:bg>
    <p:spTree>
      <p:nvGrpSpPr>
        <p:cNvPr id="1" name=""/>
        <p:cNvGrpSpPr/>
        <p:nvPr/>
      </p:nvGrpSpPr>
      <p:grpSpPr>
        <a:xfrm>
          <a:off x="0" y="0"/>
          <a:ext cx="0" cy="0"/>
          <a:chOff x="0" y="0"/>
          <a:chExt cx="0" cy="0"/>
        </a:xfrm>
      </p:grpSpPr>
      <p:sp>
        <p:nvSpPr>
          <p:cNvPr id="2" name="Shape 0"/>
          <p:cNvSpPr/>
          <p:nvPr/>
        </p:nvSpPr>
        <p:spPr>
          <a:xfrm>
            <a:off x="-1371600" y="-1828800"/>
            <a:ext cx="6400800" cy="6400800"/>
          </a:xfrm>
          <a:prstGeom prst="ellipse">
            <a:avLst/>
          </a:prstGeom>
          <a:solidFill>
            <a:srgbClr val="1A1A2E"/>
          </a:solidFill>
          <a:ln w="12700">
            <a:solidFill>
              <a:srgbClr val="1A1A2E"/>
            </a:solidFill>
            <a:prstDash val="solid"/>
          </a:ln>
        </p:spPr>
      </p:sp>
      <p:sp>
        <p:nvSpPr>
          <p:cNvPr id="3" name="Shape 1"/>
          <p:cNvSpPr/>
          <p:nvPr/>
        </p:nvSpPr>
        <p:spPr>
          <a:xfrm>
            <a:off x="5303520" y="1371600"/>
            <a:ext cx="5029200" cy="5029200"/>
          </a:xfrm>
          <a:prstGeom prst="ellipse">
            <a:avLst/>
          </a:prstGeom>
          <a:solidFill>
            <a:srgbClr val="1A1A2E"/>
          </a:solidFill>
          <a:ln w="12700">
            <a:solidFill>
              <a:srgbClr val="1A1A2E"/>
            </a:solidFill>
            <a:prstDash val="solid"/>
          </a:ln>
        </p:spPr>
      </p:sp>
      <p:sp>
        <p:nvSpPr>
          <p:cNvPr id="4" name="Shape 2"/>
          <p:cNvSpPr/>
          <p:nvPr/>
        </p:nvSpPr>
        <p:spPr>
          <a:xfrm>
            <a:off x="7315200" y="3474720"/>
            <a:ext cx="1097280" cy="1097280"/>
          </a:xfrm>
          <a:prstGeom prst="ellipse">
            <a:avLst/>
          </a:prstGeom>
          <a:solidFill>
            <a:srgbClr val="1A1A2E"/>
          </a:solidFill>
          <a:ln w="12700">
            <a:solidFill>
              <a:srgbClr val="1A1A2E"/>
            </a:solidFill>
            <a:prstDash val="solid"/>
          </a:ln>
        </p:spPr>
      </p:sp>
      <p:sp>
        <p:nvSpPr>
          <p:cNvPr id="5" name="Shape 3"/>
          <p:cNvSpPr/>
          <p:nvPr/>
        </p:nvSpPr>
        <p:spPr>
          <a:xfrm>
            <a:off x="6675120" y="4206240"/>
            <a:ext cx="640080" cy="640080"/>
          </a:xfrm>
          <a:prstGeom prst="ellipse">
            <a:avLst/>
          </a:prstGeom>
          <a:solidFill>
            <a:srgbClr val="B5693A"/>
          </a:solidFill>
          <a:ln w="12700">
            <a:solidFill>
              <a:srgbClr val="B5693A"/>
            </a:solidFill>
            <a:prstDash val="solid"/>
          </a:ln>
        </p:spPr>
      </p:sp>
      <p:sp>
        <p:nvSpPr>
          <p:cNvPr id="6" name="Shape 4"/>
          <p:cNvSpPr/>
          <p:nvPr/>
        </p:nvSpPr>
        <p:spPr>
          <a:xfrm>
            <a:off x="7680960" y="4389120"/>
            <a:ext cx="365760" cy="365760"/>
          </a:xfrm>
          <a:prstGeom prst="ellipse">
            <a:avLst/>
          </a:prstGeom>
          <a:solidFill>
            <a:srgbClr val="1A1A2E"/>
          </a:solidFill>
          <a:ln w="12700">
            <a:solidFill>
              <a:srgbClr val="1A1A2E"/>
            </a:solidFill>
            <a:prstDash val="solid"/>
          </a:ln>
        </p:spPr>
      </p:sp>
      <p:sp>
        <p:nvSpPr>
          <p:cNvPr id="7" name="Shape 5"/>
          <p:cNvSpPr/>
          <p:nvPr/>
        </p:nvSpPr>
        <p:spPr>
          <a:xfrm>
            <a:off x="0" y="0"/>
            <a:ext cx="9144000" cy="82296"/>
          </a:xfrm>
          <a:prstGeom prst="rect">
            <a:avLst/>
          </a:prstGeom>
          <a:solidFill>
            <a:srgbClr val="B5693A"/>
          </a:solidFill>
          <a:ln w="12700">
            <a:solidFill>
              <a:srgbClr val="B5693A"/>
            </a:solidFill>
            <a:prstDash val="solid"/>
          </a:ln>
        </p:spPr>
      </p:sp>
      <p:sp>
        <p:nvSpPr>
          <p:cNvPr id="8" name="Text 6"/>
          <p:cNvSpPr/>
          <p:nvPr/>
        </p:nvSpPr>
        <p:spPr>
          <a:xfrm>
            <a:off x="594360" y="868680"/>
            <a:ext cx="6858000" cy="1051560"/>
          </a:xfrm>
          <a:prstGeom prst="rect">
            <a:avLst/>
          </a:prstGeom>
          <a:noFill/>
          <a:ln/>
        </p:spPr>
        <p:txBody>
          <a:bodyPr wrap="square" lIns="0" tIns="0" rIns="0" bIns="0" rtlCol="0" anchor="ctr"/>
          <a:lstStyle/>
          <a:p>
            <a:pPr indent="0" marL="0">
              <a:buNone/>
            </a:pPr>
            <a:r>
              <a:rPr lang="en-US" sz="4000" b="1" dirty="0">
                <a:solidFill>
                  <a:srgbClr val="1A1A2E"/>
                </a:solidFill>
                <a:latin typeface="Georgia" pitchFamily="34" charset="0"/>
                <a:ea typeface="Georgia" pitchFamily="34" charset="-122"/>
                <a:cs typeface="Georgia" pitchFamily="34" charset="-120"/>
              </a:rPr>
              <a:t>These stories are running out of time.</a:t>
            </a:r>
            <a:endParaRPr lang="en-US" sz="4000" dirty="0"/>
          </a:p>
        </p:txBody>
      </p:sp>
      <p:sp>
        <p:nvSpPr>
          <p:cNvPr id="9" name="Text 7"/>
          <p:cNvSpPr/>
          <p:nvPr/>
        </p:nvSpPr>
        <p:spPr>
          <a:xfrm>
            <a:off x="594360" y="1920240"/>
            <a:ext cx="6858000" cy="731520"/>
          </a:xfrm>
          <a:prstGeom prst="rect">
            <a:avLst/>
          </a:prstGeom>
          <a:noFill/>
          <a:ln/>
        </p:spPr>
        <p:txBody>
          <a:bodyPr wrap="square" lIns="0" tIns="0" rIns="0" bIns="0" rtlCol="0" anchor="ctr"/>
          <a:lstStyle/>
          <a:p>
            <a:pPr indent="0" marL="0">
              <a:buNone/>
            </a:pPr>
            <a:r>
              <a:rPr lang="en-US" sz="3000" i="1" dirty="0">
                <a:solidFill>
                  <a:srgbClr val="B5693A"/>
                </a:solidFill>
                <a:latin typeface="Georgia" pitchFamily="34" charset="0"/>
                <a:ea typeface="Georgia" pitchFamily="34" charset="-122"/>
                <a:cs typeface="Georgia" pitchFamily="34" charset="-120"/>
              </a:rPr>
              <a:t>Roeung is how we save them.</a:t>
            </a:r>
            <a:endParaRPr lang="en-US" sz="3000" dirty="0"/>
          </a:p>
        </p:txBody>
      </p:sp>
      <p:sp>
        <p:nvSpPr>
          <p:cNvPr id="10" name="Shape 8"/>
          <p:cNvSpPr/>
          <p:nvPr/>
        </p:nvSpPr>
        <p:spPr>
          <a:xfrm>
            <a:off x="594360" y="2816352"/>
            <a:ext cx="1463040" cy="45720"/>
          </a:xfrm>
          <a:prstGeom prst="rect">
            <a:avLst/>
          </a:prstGeom>
          <a:solidFill>
            <a:srgbClr val="1A1A2E"/>
          </a:solidFill>
          <a:ln w="12700">
            <a:solidFill>
              <a:srgbClr val="1A1A2E"/>
            </a:solidFill>
            <a:prstDash val="solid"/>
          </a:ln>
        </p:spPr>
      </p:sp>
      <p:sp>
        <p:nvSpPr>
          <p:cNvPr id="11" name="Text 9"/>
          <p:cNvSpPr/>
          <p:nvPr/>
        </p:nvSpPr>
        <p:spPr>
          <a:xfrm>
            <a:off x="594360" y="2962656"/>
            <a:ext cx="7315200" cy="411480"/>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roeung.app  |  ellen.v.sea@gmail.com</a:t>
            </a:r>
            <a:endParaRPr lang="en-US" sz="1350" dirty="0"/>
          </a:p>
        </p:txBody>
      </p:sp>
      <p:sp>
        <p:nvSpPr>
          <p:cNvPr id="12" name="Shape 10"/>
          <p:cNvSpPr/>
          <p:nvPr/>
        </p:nvSpPr>
        <p:spPr>
          <a:xfrm>
            <a:off x="0" y="5047488"/>
            <a:ext cx="9144000" cy="82296"/>
          </a:xfrm>
          <a:prstGeom prst="rect">
            <a:avLst/>
          </a:prstGeom>
          <a:solidFill>
            <a:srgbClr val="1A1A2E"/>
          </a:solidFill>
          <a:ln w="12700">
            <a:solidFill>
              <a:srgbClr val="1A1A2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Roeung — FemCare AI Pitch</dc:title>
  <dc:subject>PptxGenJS Presentation</dc:subject>
  <dc:creator>Ellen Sea</dc:creator>
  <cp:lastModifiedBy>Ellen Sea</cp:lastModifiedBy>
  <cp:revision>1</cp:revision>
  <dcterms:created xsi:type="dcterms:W3CDTF">2026-06-18T20:25:20Z</dcterms:created>
  <dcterms:modified xsi:type="dcterms:W3CDTF">2026-06-18T20:25:20Z</dcterms:modified>
</cp:coreProperties>
</file>